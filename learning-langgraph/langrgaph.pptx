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MessageState"/>
          <p:cNvSpPr txBox="1"/>
          <p:nvPr/>
        </p:nvSpPr>
        <p:spPr>
          <a:xfrm>
            <a:off x="507006" y="536405"/>
            <a:ext cx="876935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0000"/>
            </a:lvl1pPr>
          </a:lstStyle>
          <a:p>
            <a:pPr/>
            <a:r>
              <a:t>MessageState</a:t>
            </a:r>
          </a:p>
        </p:txBody>
      </p:sp>
      <p:sp>
        <p:nvSpPr>
          <p:cNvPr id="152" name="add_message"/>
          <p:cNvSpPr txBox="1"/>
          <p:nvPr/>
        </p:nvSpPr>
        <p:spPr>
          <a:xfrm>
            <a:off x="5718207" y="4447671"/>
            <a:ext cx="8507731" cy="162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0000"/>
            </a:lvl1pPr>
          </a:lstStyle>
          <a:p>
            <a:pPr/>
            <a:r>
              <a:t>add_message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sync and Streaming"/>
          <p:cNvSpPr txBox="1"/>
          <p:nvPr/>
        </p:nvSpPr>
        <p:spPr>
          <a:xfrm>
            <a:off x="5702299" y="6044569"/>
            <a:ext cx="1297940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0000"/>
            </a:lvl1pPr>
          </a:lstStyle>
          <a:p>
            <a:pPr/>
            <a:r>
              <a:t>Async and Streaming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Async"/>
          <p:cNvSpPr txBox="1"/>
          <p:nvPr/>
        </p:nvSpPr>
        <p:spPr>
          <a:xfrm>
            <a:off x="742005" y="413339"/>
            <a:ext cx="380746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0000"/>
            </a:lvl1pPr>
          </a:lstStyle>
          <a:p>
            <a:pPr/>
            <a:r>
              <a:t>Async</a:t>
            </a:r>
          </a:p>
        </p:txBody>
      </p:sp>
      <p:sp>
        <p:nvSpPr>
          <p:cNvPr id="157" name="request1"/>
          <p:cNvSpPr txBox="1"/>
          <p:nvPr/>
        </p:nvSpPr>
        <p:spPr>
          <a:xfrm>
            <a:off x="3490282" y="3809161"/>
            <a:ext cx="4348989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request1</a:t>
            </a:r>
          </a:p>
        </p:txBody>
      </p:sp>
      <p:sp>
        <p:nvSpPr>
          <p:cNvPr id="158" name="request2"/>
          <p:cNvSpPr txBox="1"/>
          <p:nvPr/>
        </p:nvSpPr>
        <p:spPr>
          <a:xfrm>
            <a:off x="3490282" y="6205985"/>
            <a:ext cx="4348989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request2</a:t>
            </a:r>
          </a:p>
        </p:txBody>
      </p:sp>
      <p:sp>
        <p:nvSpPr>
          <p:cNvPr id="159" name="request3"/>
          <p:cNvSpPr txBox="1"/>
          <p:nvPr/>
        </p:nvSpPr>
        <p:spPr>
          <a:xfrm>
            <a:off x="3490282" y="8855829"/>
            <a:ext cx="4348989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request3</a:t>
            </a:r>
          </a:p>
        </p:txBody>
      </p:sp>
      <p:sp>
        <p:nvSpPr>
          <p:cNvPr id="160" name="LangGraph…"/>
          <p:cNvSpPr/>
          <p:nvPr/>
        </p:nvSpPr>
        <p:spPr>
          <a:xfrm>
            <a:off x="12326160" y="4892593"/>
            <a:ext cx="4827726" cy="3930814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5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LangGraph</a:t>
            </a:r>
          </a:p>
          <a:p>
            <a:pPr defTabSz="825500">
              <a:defRPr sz="5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Workflow</a:t>
            </a:r>
          </a:p>
        </p:txBody>
      </p:sp>
      <p:sp>
        <p:nvSpPr>
          <p:cNvPr id="161" name="Line"/>
          <p:cNvSpPr/>
          <p:nvPr/>
        </p:nvSpPr>
        <p:spPr>
          <a:xfrm>
            <a:off x="8624054" y="4724024"/>
            <a:ext cx="3458140" cy="134141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2" name="Line"/>
          <p:cNvSpPr/>
          <p:nvPr/>
        </p:nvSpPr>
        <p:spPr>
          <a:xfrm>
            <a:off x="8624054" y="7004672"/>
            <a:ext cx="3446658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3" name="Line"/>
          <p:cNvSpPr/>
          <p:nvPr/>
        </p:nvSpPr>
        <p:spPr>
          <a:xfrm flipV="1">
            <a:off x="8624054" y="7909165"/>
            <a:ext cx="3461282" cy="159868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4" name="invoke"/>
          <p:cNvSpPr txBox="1"/>
          <p:nvPr/>
        </p:nvSpPr>
        <p:spPr>
          <a:xfrm>
            <a:off x="12846700" y="3136235"/>
            <a:ext cx="329438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invoke</a:t>
            </a:r>
          </a:p>
        </p:txBody>
      </p:sp>
      <p:sp>
        <p:nvSpPr>
          <p:cNvPr id="165" name="ainvoke"/>
          <p:cNvSpPr txBox="1"/>
          <p:nvPr/>
        </p:nvSpPr>
        <p:spPr>
          <a:xfrm>
            <a:off x="12555108" y="9275735"/>
            <a:ext cx="3877565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ainvoke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8" grpId="5"/>
      <p:bldP build="whole" bldLvl="1" animBg="1" rev="0" advAuto="0" spid="162" grpId="6"/>
      <p:bldP build="whole" bldLvl="1" animBg="1" rev="0" advAuto="0" spid="164" grpId="4"/>
      <p:bldP build="whole" bldLvl="1" animBg="1" rev="0" advAuto="0" spid="161" grpId="3"/>
      <p:bldP build="whole" bldLvl="1" animBg="1" rev="0" advAuto="0" spid="163" grpId="8"/>
      <p:bldP build="whole" bldLvl="1" animBg="1" rev="0" advAuto="0" spid="156" grpId="9"/>
      <p:bldP build="whole" bldLvl="1" animBg="1" rev="0" advAuto="0" spid="159" grpId="7"/>
      <p:bldP build="whole" bldLvl="1" animBg="1" rev="0" advAuto="0" spid="160" grpId="1"/>
      <p:bldP build="whole" bldLvl="1" animBg="1" rev="0" advAuto="0" spid="165" grpId="10"/>
      <p:bldP build="whole" bldLvl="1" animBg="1" rev="0" advAuto="0" spid="157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treaming Types"/>
          <p:cNvSpPr txBox="1"/>
          <p:nvPr/>
        </p:nvSpPr>
        <p:spPr>
          <a:xfrm>
            <a:off x="398148" y="536405"/>
            <a:ext cx="1015619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0000"/>
            </a:lvl1pPr>
          </a:lstStyle>
          <a:p>
            <a:pPr/>
            <a:r>
              <a:t>Streaming Types</a:t>
            </a:r>
          </a:p>
        </p:txBody>
      </p:sp>
      <p:sp>
        <p:nvSpPr>
          <p:cNvPr id="168" name="values"/>
          <p:cNvSpPr txBox="1"/>
          <p:nvPr/>
        </p:nvSpPr>
        <p:spPr>
          <a:xfrm>
            <a:off x="10151672" y="3129114"/>
            <a:ext cx="321919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values</a:t>
            </a:r>
          </a:p>
        </p:txBody>
      </p:sp>
      <p:sp>
        <p:nvSpPr>
          <p:cNvPr id="169" name="updates"/>
          <p:cNvSpPr txBox="1"/>
          <p:nvPr/>
        </p:nvSpPr>
        <p:spPr>
          <a:xfrm>
            <a:off x="10178033" y="5183627"/>
            <a:ext cx="4027933" cy="1304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updates</a:t>
            </a:r>
          </a:p>
        </p:txBody>
      </p:sp>
      <p:sp>
        <p:nvSpPr>
          <p:cNvPr id="170" name="messages"/>
          <p:cNvSpPr txBox="1"/>
          <p:nvPr/>
        </p:nvSpPr>
        <p:spPr>
          <a:xfrm>
            <a:off x="10101779" y="7238139"/>
            <a:ext cx="504190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messages</a:t>
            </a:r>
          </a:p>
        </p:txBody>
      </p:sp>
      <p:sp>
        <p:nvSpPr>
          <p:cNvPr id="171" name="custom"/>
          <p:cNvSpPr txBox="1"/>
          <p:nvPr/>
        </p:nvSpPr>
        <p:spPr>
          <a:xfrm>
            <a:off x="10073634" y="9057291"/>
            <a:ext cx="3744469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custom</a:t>
            </a:r>
          </a:p>
        </p:txBody>
      </p:sp>
      <p:sp>
        <p:nvSpPr>
          <p:cNvPr id="172" name="debug"/>
          <p:cNvSpPr txBox="1"/>
          <p:nvPr/>
        </p:nvSpPr>
        <p:spPr>
          <a:xfrm>
            <a:off x="10180120" y="10876443"/>
            <a:ext cx="316230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debug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" grpId="6"/>
      <p:bldP build="whole" bldLvl="1" animBg="1" rev="0" advAuto="0" spid="170" grpId="4"/>
      <p:bldP build="whole" bldLvl="1" animBg="1" rev="0" advAuto="0" spid="169" grpId="3"/>
      <p:bldP build="whole" bldLvl="1" animBg="1" rev="0" advAuto="0" spid="171" grpId="5"/>
      <p:bldP build="whole" bldLvl="1" animBg="1" rev="0" advAuto="0" spid="167" grpId="1"/>
      <p:bldP build="whole" bldLvl="1" animBg="1" rev="0" advAuto="0" spid="168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enerates an initial solution"/>
          <p:cNvSpPr txBox="1"/>
          <p:nvPr/>
        </p:nvSpPr>
        <p:spPr>
          <a:xfrm>
            <a:off x="6068913" y="3090019"/>
            <a:ext cx="12652574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Generates an initial solution</a:t>
            </a:r>
          </a:p>
        </p:txBody>
      </p:sp>
      <p:sp>
        <p:nvSpPr>
          <p:cNvPr id="175" name="Reviews and evaluates its own output"/>
          <p:cNvSpPr txBox="1"/>
          <p:nvPr/>
        </p:nvSpPr>
        <p:spPr>
          <a:xfrm>
            <a:off x="6121308" y="5223619"/>
            <a:ext cx="17113946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Reviews and evaluates its own output</a:t>
            </a:r>
          </a:p>
        </p:txBody>
      </p:sp>
      <p:sp>
        <p:nvSpPr>
          <p:cNvPr id="176" name="Improves based on feedback"/>
          <p:cNvSpPr txBox="1"/>
          <p:nvPr/>
        </p:nvSpPr>
        <p:spPr>
          <a:xfrm>
            <a:off x="6144865" y="6976219"/>
            <a:ext cx="13161070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Improves based on feedback</a:t>
            </a:r>
          </a:p>
        </p:txBody>
      </p:sp>
      <p:sp>
        <p:nvSpPr>
          <p:cNvPr id="177" name="Repeats until a stopping criterion is met"/>
          <p:cNvSpPr txBox="1"/>
          <p:nvPr/>
        </p:nvSpPr>
        <p:spPr>
          <a:xfrm>
            <a:off x="6116794" y="9008219"/>
            <a:ext cx="17903231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Repeats until a stopping criterion is met</a:t>
            </a:r>
          </a:p>
        </p:txBody>
      </p:sp>
      <p:sp>
        <p:nvSpPr>
          <p:cNvPr id="178" name="Reflection"/>
          <p:cNvSpPr txBox="1"/>
          <p:nvPr/>
        </p:nvSpPr>
        <p:spPr>
          <a:xfrm>
            <a:off x="430113" y="433523"/>
            <a:ext cx="5761708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Reflection</a:t>
            </a:r>
          </a:p>
        </p:txBody>
      </p:sp>
      <p:sp>
        <p:nvSpPr>
          <p:cNvPr id="179" name="AGENT"/>
          <p:cNvSpPr/>
          <p:nvPr/>
        </p:nvSpPr>
        <p:spPr>
          <a:xfrm>
            <a:off x="914896" y="5246836"/>
            <a:ext cx="3556298" cy="3222328"/>
          </a:xfrm>
          <a:prstGeom prst="roundRect">
            <a:avLst>
              <a:gd name="adj" fmla="val 14559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AGENT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5" grpId="3"/>
      <p:bldP build="whole" bldLvl="1" animBg="1" rev="0" advAuto="0" spid="177" grpId="5"/>
      <p:bldP build="whole" bldLvl="1" animBg="1" rev="0" advAuto="0" spid="176" grpId="4"/>
      <p:bldP build="whole" bldLvl="1" animBg="1" rev="0" advAuto="0" spid="174" grpId="2"/>
      <p:bldP build="whole" bldLvl="1" animBg="1" rev="0" advAuto="0" spid="17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enerates multiple solutions"/>
          <p:cNvSpPr txBox="1"/>
          <p:nvPr/>
        </p:nvSpPr>
        <p:spPr>
          <a:xfrm>
            <a:off x="7304261" y="4372719"/>
            <a:ext cx="12933859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Generates multiple solutions</a:t>
            </a:r>
          </a:p>
        </p:txBody>
      </p:sp>
      <p:sp>
        <p:nvSpPr>
          <p:cNvPr id="182" name="Breaks down and evaluates"/>
          <p:cNvSpPr txBox="1"/>
          <p:nvPr/>
        </p:nvSpPr>
        <p:spPr>
          <a:xfrm>
            <a:off x="7356657" y="6506319"/>
            <a:ext cx="12596516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Breaks down and evaluates</a:t>
            </a:r>
          </a:p>
        </p:txBody>
      </p:sp>
      <p:sp>
        <p:nvSpPr>
          <p:cNvPr id="183" name="Ranks and selects the best option"/>
          <p:cNvSpPr txBox="1"/>
          <p:nvPr/>
        </p:nvSpPr>
        <p:spPr>
          <a:xfrm>
            <a:off x="7354813" y="8639919"/>
            <a:ext cx="15363726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Ranks and selects the best option</a:t>
            </a:r>
          </a:p>
        </p:txBody>
      </p:sp>
      <p:sp>
        <p:nvSpPr>
          <p:cNvPr id="184" name="Tree Of Thought"/>
          <p:cNvSpPr txBox="1"/>
          <p:nvPr/>
        </p:nvSpPr>
        <p:spPr>
          <a:xfrm>
            <a:off x="751061" y="509723"/>
            <a:ext cx="9362108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Tree Of Thought</a:t>
            </a:r>
          </a:p>
        </p:txBody>
      </p:sp>
      <p:sp>
        <p:nvSpPr>
          <p:cNvPr id="185" name="AGENT"/>
          <p:cNvSpPr/>
          <p:nvPr/>
        </p:nvSpPr>
        <p:spPr>
          <a:xfrm>
            <a:off x="1052884" y="5375126"/>
            <a:ext cx="4526658" cy="3499148"/>
          </a:xfrm>
          <a:prstGeom prst="roundRect">
            <a:avLst>
              <a:gd name="adj" fmla="val 14559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AGENT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3" grpId="4"/>
      <p:bldP build="whole" bldLvl="1" animBg="1" rev="0" advAuto="0" spid="184" grpId="1"/>
      <p:bldP build="whole" bldLvl="1" animBg="1" rev="0" advAuto="0" spid="182" grpId="3"/>
      <p:bldP build="whole" bldLvl="1" animBg="1" rev="0" advAuto="0" spid="181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User"/>
          <p:cNvSpPr txBox="1"/>
          <p:nvPr/>
        </p:nvSpPr>
        <p:spPr>
          <a:xfrm>
            <a:off x="1722844" y="7349004"/>
            <a:ext cx="170840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88" name="Reasoning"/>
          <p:cNvSpPr txBox="1"/>
          <p:nvPr/>
        </p:nvSpPr>
        <p:spPr>
          <a:xfrm>
            <a:off x="16132025" y="3034007"/>
            <a:ext cx="3726943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Reasoning</a:t>
            </a:r>
          </a:p>
        </p:txBody>
      </p:sp>
      <p:sp>
        <p:nvSpPr>
          <p:cNvPr id="189" name="Action"/>
          <p:cNvSpPr txBox="1"/>
          <p:nvPr/>
        </p:nvSpPr>
        <p:spPr>
          <a:xfrm>
            <a:off x="16924257" y="5033829"/>
            <a:ext cx="2287525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90" name="Line"/>
          <p:cNvSpPr/>
          <p:nvPr/>
        </p:nvSpPr>
        <p:spPr>
          <a:xfrm>
            <a:off x="18122496" y="8119538"/>
            <a:ext cx="1" cy="99466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191" name="LLM"/>
          <p:cNvSpPr/>
          <p:nvPr/>
        </p:nvSpPr>
        <p:spPr>
          <a:xfrm>
            <a:off x="9441276" y="5845683"/>
            <a:ext cx="3215448" cy="1626468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192" name="Agent"/>
          <p:cNvSpPr txBox="1"/>
          <p:nvPr/>
        </p:nvSpPr>
        <p:spPr>
          <a:xfrm>
            <a:off x="9370275" y="1036458"/>
            <a:ext cx="297434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93" name="Tools"/>
          <p:cNvSpPr/>
          <p:nvPr/>
        </p:nvSpPr>
        <p:spPr>
          <a:xfrm>
            <a:off x="11582951" y="2718105"/>
            <a:ext cx="3215448" cy="162646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194" name="Response"/>
          <p:cNvSpPr txBox="1"/>
          <p:nvPr/>
        </p:nvSpPr>
        <p:spPr>
          <a:xfrm>
            <a:off x="16276956" y="9336584"/>
            <a:ext cx="352958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195" name="Line"/>
          <p:cNvSpPr/>
          <p:nvPr/>
        </p:nvSpPr>
        <p:spPr>
          <a:xfrm flipH="1" flipV="1">
            <a:off x="4589052" y="7151103"/>
            <a:ext cx="11577645" cy="268281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196" name="Line"/>
          <p:cNvSpPr/>
          <p:nvPr/>
        </p:nvSpPr>
        <p:spPr>
          <a:xfrm>
            <a:off x="18068018" y="5996741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197" name="Computer"/>
          <p:cNvSpPr/>
          <p:nvPr/>
        </p:nvSpPr>
        <p:spPr>
          <a:xfrm>
            <a:off x="1667299" y="4974164"/>
            <a:ext cx="2287525" cy="18459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Input"/>
          <p:cNvSpPr txBox="1"/>
          <p:nvPr/>
        </p:nvSpPr>
        <p:spPr>
          <a:xfrm>
            <a:off x="6045796" y="6161584"/>
            <a:ext cx="185089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199" name="Rectangle"/>
          <p:cNvSpPr/>
          <p:nvPr/>
        </p:nvSpPr>
        <p:spPr>
          <a:xfrm>
            <a:off x="8941351" y="507068"/>
            <a:ext cx="13234954" cy="11179899"/>
          </a:xfrm>
          <a:prstGeom prst="rect">
            <a:avLst/>
          </a:prstGeom>
          <a:ln w="63500">
            <a:solidFill>
              <a:srgbClr val="48A6F5"/>
            </a:solidFill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0" name="Observe"/>
          <p:cNvSpPr txBox="1"/>
          <p:nvPr/>
        </p:nvSpPr>
        <p:spPr>
          <a:xfrm>
            <a:off x="16505786" y="7033652"/>
            <a:ext cx="297942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Observe</a:t>
            </a:r>
          </a:p>
        </p:txBody>
      </p:sp>
      <p:sp>
        <p:nvSpPr>
          <p:cNvPr id="201" name="Line"/>
          <p:cNvSpPr/>
          <p:nvPr/>
        </p:nvSpPr>
        <p:spPr>
          <a:xfrm flipH="1" flipV="1">
            <a:off x="19759428" y="3709139"/>
            <a:ext cx="659311" cy="23167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02" name="Line"/>
          <p:cNvSpPr/>
          <p:nvPr/>
        </p:nvSpPr>
        <p:spPr>
          <a:xfrm>
            <a:off x="4685896" y="6224017"/>
            <a:ext cx="4024307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07" name="Connection Line"/>
          <p:cNvSpPr/>
          <p:nvPr/>
        </p:nvSpPr>
        <p:spPr>
          <a:xfrm>
            <a:off x="19950862" y="3941599"/>
            <a:ext cx="1789244" cy="3802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60" h="21600" fill="norm" stroke="1" extrusionOk="0">
                <a:moveTo>
                  <a:pt x="0" y="21600"/>
                </a:moveTo>
                <a:cubicBezTo>
                  <a:pt x="20362" y="12699"/>
                  <a:pt x="21600" y="5499"/>
                  <a:pt x="3713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04" name="Line"/>
          <p:cNvSpPr/>
          <p:nvPr/>
        </p:nvSpPr>
        <p:spPr>
          <a:xfrm>
            <a:off x="18249496" y="4548941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05" name="Prompt"/>
          <p:cNvSpPr txBox="1"/>
          <p:nvPr/>
        </p:nvSpPr>
        <p:spPr>
          <a:xfrm>
            <a:off x="9906076" y="4722191"/>
            <a:ext cx="262737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06" name="Line"/>
          <p:cNvSpPr/>
          <p:nvPr/>
        </p:nvSpPr>
        <p:spPr>
          <a:xfrm flipV="1">
            <a:off x="13169496" y="4849191"/>
            <a:ext cx="3512912" cy="221302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2" grpId="1"/>
      <p:bldP build="whole" bldLvl="1" animBg="1" rev="0" advAuto="0" spid="195" grpId="19"/>
      <p:bldP build="whole" bldLvl="1" animBg="1" rev="0" advAuto="0" spid="193" grpId="5"/>
      <p:bldP build="whole" bldLvl="1" animBg="1" rev="0" advAuto="0" spid="188" grpId="10"/>
      <p:bldP build="whole" bldLvl="1" animBg="1" rev="0" advAuto="0" spid="207" grpId="15"/>
      <p:bldP build="whole" bldLvl="1" animBg="1" rev="0" advAuto="0" spid="191" grpId="3"/>
      <p:bldP build="whole" bldLvl="1" animBg="1" rev="0" advAuto="0" spid="205" grpId="4"/>
      <p:bldP build="whole" bldLvl="1" animBg="1" rev="0" advAuto="0" spid="204" grpId="11"/>
      <p:bldP build="whole" bldLvl="1" animBg="1" rev="0" advAuto="0" spid="187" grpId="7"/>
      <p:bldP build="whole" bldLvl="1" animBg="1" rev="0" advAuto="0" spid="190" grpId="17"/>
      <p:bldP build="whole" bldLvl="1" animBg="1" rev="0" advAuto="0" spid="196" grpId="13"/>
      <p:bldP build="whole" bldLvl="1" animBg="1" rev="0" advAuto="0" spid="202" grpId="8"/>
      <p:bldP build="whole" bldLvl="1" animBg="1" rev="0" advAuto="0" spid="197" grpId="6"/>
      <p:bldP build="whole" bldLvl="1" animBg="1" rev="0" advAuto="0" spid="201" grpId="16"/>
      <p:bldP build="whole" bldLvl="1" animBg="1" rev="0" advAuto="0" spid="194" grpId="18"/>
      <p:bldP build="whole" bldLvl="1" animBg="1" rev="0" advAuto="0" spid="198" grpId="9"/>
      <p:bldP build="whole" bldLvl="1" animBg="1" rev="0" advAuto="0" spid="199" grpId="2"/>
      <p:bldP build="whole" bldLvl="1" animBg="1" rev="0" advAuto="0" spid="200" grpId="14"/>
      <p:bldP build="whole" bldLvl="1" animBg="1" rev="0" advAuto="0" spid="189" grpId="12"/>
      <p:bldP build="whole" bldLvl="1" animBg="1" rev="0" advAuto="0" spid="206" grpId="2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earch Tools"/>
          <p:cNvSpPr txBox="1"/>
          <p:nvPr/>
        </p:nvSpPr>
        <p:spPr>
          <a:xfrm>
            <a:off x="2402061" y="3263900"/>
            <a:ext cx="6251476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Search Tools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id="210" name="Retrieval Tools"/>
          <p:cNvSpPr txBox="1"/>
          <p:nvPr/>
        </p:nvSpPr>
        <p:spPr>
          <a:xfrm>
            <a:off x="2378257" y="5210919"/>
            <a:ext cx="6758980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Retrieval Tools</a:t>
            </a:r>
          </a:p>
        </p:txBody>
      </p:sp>
      <p:sp>
        <p:nvSpPr>
          <p:cNvPr id="211" name="Calculation Tools"/>
          <p:cNvSpPr txBox="1"/>
          <p:nvPr/>
        </p:nvSpPr>
        <p:spPr>
          <a:xfrm>
            <a:off x="2376413" y="7073899"/>
            <a:ext cx="7776469" cy="123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Calculation Tools</a:t>
            </a:r>
          </a:p>
        </p:txBody>
      </p:sp>
      <p:sp>
        <p:nvSpPr>
          <p:cNvPr id="212" name="Tools"/>
          <p:cNvSpPr txBox="1"/>
          <p:nvPr/>
        </p:nvSpPr>
        <p:spPr>
          <a:xfrm>
            <a:off x="751061" y="509723"/>
            <a:ext cx="3079081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213" name="Code Execution Tools"/>
          <p:cNvSpPr txBox="1"/>
          <p:nvPr/>
        </p:nvSpPr>
        <p:spPr>
          <a:xfrm>
            <a:off x="2376413" y="8936880"/>
            <a:ext cx="9923066" cy="123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Code Execution Tools</a:t>
            </a:r>
          </a:p>
        </p:txBody>
      </p:sp>
      <p:sp>
        <p:nvSpPr>
          <p:cNvPr id="214" name="Data Querying Tools"/>
          <p:cNvSpPr txBox="1"/>
          <p:nvPr/>
        </p:nvSpPr>
        <p:spPr>
          <a:xfrm>
            <a:off x="2376413" y="10757842"/>
            <a:ext cx="95832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 Querying Tools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</p:txBody>
      </p:sp>
      <p:sp>
        <p:nvSpPr>
          <p:cNvPr id="215" name="File Manipulation Tools"/>
          <p:cNvSpPr txBox="1"/>
          <p:nvPr/>
        </p:nvSpPr>
        <p:spPr>
          <a:xfrm>
            <a:off x="13501613" y="3315326"/>
            <a:ext cx="10430570" cy="123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File Manipulation Tools</a:t>
            </a:r>
          </a:p>
        </p:txBody>
      </p:sp>
      <p:sp>
        <p:nvSpPr>
          <p:cNvPr id="216" name="Custom API Tools"/>
          <p:cNvSpPr txBox="1"/>
          <p:nvPr/>
        </p:nvSpPr>
        <p:spPr>
          <a:xfrm>
            <a:off x="13476213" y="5210919"/>
            <a:ext cx="8114308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 API Tools</a:t>
            </a:r>
          </a:p>
        </p:txBody>
      </p:sp>
      <p:sp>
        <p:nvSpPr>
          <p:cNvPr id="217" name="Browser Tools"/>
          <p:cNvSpPr txBox="1"/>
          <p:nvPr/>
        </p:nvSpPr>
        <p:spPr>
          <a:xfrm>
            <a:off x="13603213" y="7115919"/>
            <a:ext cx="6476207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Browser Tools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2" grpId="1"/>
      <p:bldP build="whole" bldLvl="1" animBg="1" rev="0" advAuto="0" spid="216" grpId="8"/>
      <p:bldP build="whole" bldLvl="1" animBg="1" rev="0" advAuto="0" spid="211" grpId="4"/>
      <p:bldP build="whole" bldLvl="1" animBg="1" rev="0" advAuto="0" spid="217" grpId="9"/>
      <p:bldP build="whole" bldLvl="1" animBg="1" rev="0" advAuto="0" spid="213" grpId="5"/>
      <p:bldP build="whole" bldLvl="1" animBg="1" rev="0" advAuto="0" spid="209" grpId="2"/>
      <p:bldP build="whole" bldLvl="1" animBg="1" rev="0" advAuto="0" spid="214" grpId="6"/>
      <p:bldP build="whole" bldLvl="1" animBg="1" rev="0" advAuto="0" spid="215" grpId="7"/>
      <p:bldP build="whole" bldLvl="1" animBg="1" rev="0" advAuto="0" spid="210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What is LangGraph"/>
          <p:cNvSpPr txBox="1"/>
          <p:nvPr/>
        </p:nvSpPr>
        <p:spPr>
          <a:xfrm>
            <a:off x="751061" y="509723"/>
            <a:ext cx="11056269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LangGraph</a:t>
            </a:r>
          </a:p>
        </p:txBody>
      </p:sp>
      <p:sp>
        <p:nvSpPr>
          <p:cNvPr id="220" name="Start"/>
          <p:cNvSpPr/>
          <p:nvPr/>
        </p:nvSpPr>
        <p:spPr>
          <a:xfrm>
            <a:off x="10232941" y="3763347"/>
            <a:ext cx="2719826" cy="1520553"/>
          </a:xfrm>
          <a:prstGeom prst="roundRect">
            <a:avLst>
              <a:gd name="adj" fmla="val 12528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5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221" name="LLM"/>
          <p:cNvSpPr/>
          <p:nvPr/>
        </p:nvSpPr>
        <p:spPr>
          <a:xfrm>
            <a:off x="10232941" y="6759938"/>
            <a:ext cx="2719826" cy="1520553"/>
          </a:xfrm>
          <a:prstGeom prst="roundRect">
            <a:avLst>
              <a:gd name="adj" fmla="val 12528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22" name="End"/>
          <p:cNvSpPr/>
          <p:nvPr/>
        </p:nvSpPr>
        <p:spPr>
          <a:xfrm>
            <a:off x="5503702" y="8999716"/>
            <a:ext cx="2719827" cy="1520553"/>
          </a:xfrm>
          <a:prstGeom prst="roundRect">
            <a:avLst>
              <a:gd name="adj" fmla="val 12528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End</a:t>
            </a:r>
          </a:p>
        </p:txBody>
      </p:sp>
      <p:sp>
        <p:nvSpPr>
          <p:cNvPr id="223" name="Take Action"/>
          <p:cNvSpPr/>
          <p:nvPr/>
        </p:nvSpPr>
        <p:spPr>
          <a:xfrm>
            <a:off x="14838633" y="8678237"/>
            <a:ext cx="2719827" cy="1520553"/>
          </a:xfrm>
          <a:prstGeom prst="roundRect">
            <a:avLst>
              <a:gd name="adj" fmla="val 12528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Take Action</a:t>
            </a:r>
          </a:p>
        </p:txBody>
      </p:sp>
      <p:sp>
        <p:nvSpPr>
          <p:cNvPr id="224" name="Line"/>
          <p:cNvSpPr/>
          <p:nvPr/>
        </p:nvSpPr>
        <p:spPr>
          <a:xfrm flipH="1">
            <a:off x="8540917" y="8437884"/>
            <a:ext cx="2004258" cy="11811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Line"/>
          <p:cNvSpPr/>
          <p:nvPr/>
        </p:nvSpPr>
        <p:spPr>
          <a:xfrm>
            <a:off x="11719853" y="5568849"/>
            <a:ext cx="1" cy="116014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0" name="Connection Line"/>
          <p:cNvSpPr/>
          <p:nvPr/>
        </p:nvSpPr>
        <p:spPr>
          <a:xfrm>
            <a:off x="12140431" y="8320802"/>
            <a:ext cx="2698203" cy="1217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3663" y="20333"/>
                  <a:pt x="6463" y="13133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31" name="Connection Line"/>
          <p:cNvSpPr/>
          <p:nvPr/>
        </p:nvSpPr>
        <p:spPr>
          <a:xfrm>
            <a:off x="12961179" y="7288791"/>
            <a:ext cx="4058116" cy="1332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794" fill="norm" stroke="1" extrusionOk="0">
                <a:moveTo>
                  <a:pt x="21600" y="17794"/>
                </a:moveTo>
                <a:cubicBezTo>
                  <a:pt x="14865" y="1170"/>
                  <a:pt x="7665" y="-3806"/>
                  <a:pt x="0" y="2866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28" name="Use Tool"/>
          <p:cNvSpPr txBox="1"/>
          <p:nvPr/>
        </p:nvSpPr>
        <p:spPr>
          <a:xfrm>
            <a:off x="11659834" y="9411504"/>
            <a:ext cx="20802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Use Tool</a:t>
            </a:r>
          </a:p>
        </p:txBody>
      </p:sp>
      <p:sp>
        <p:nvSpPr>
          <p:cNvPr id="229" name="Result"/>
          <p:cNvSpPr txBox="1"/>
          <p:nvPr/>
        </p:nvSpPr>
        <p:spPr>
          <a:xfrm>
            <a:off x="14861332" y="6541045"/>
            <a:ext cx="154432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5"/>
      <p:bldP build="whole" bldLvl="1" animBg="1" rev="0" advAuto="0" spid="222" grpId="11"/>
      <p:bldP build="whole" bldLvl="1" animBg="1" rev="0" advAuto="0" spid="230" grpId="6"/>
      <p:bldP build="whole" bldLvl="1" animBg="1" rev="0" advAuto="0" spid="224" grpId="10"/>
      <p:bldP build="whole" bldLvl="1" animBg="1" rev="0" advAuto="0" spid="228" grpId="7"/>
      <p:bldP build="whole" bldLvl="1" animBg="1" rev="0" advAuto="0" spid="225" grpId="3"/>
      <p:bldP build="whole" bldLvl="1" animBg="1" rev="0" advAuto="0" spid="221" grpId="4"/>
      <p:bldP build="whole" bldLvl="1" animBg="1" rev="0" advAuto="0" spid="220" grpId="2"/>
      <p:bldP build="whole" bldLvl="1" animBg="1" rev="0" advAuto="0" spid="229" grpId="9"/>
      <p:bldP build="whole" bldLvl="1" animBg="1" rev="0" advAuto="0" spid="219" grpId="1"/>
      <p:bldP build="whole" bldLvl="1" animBg="1" rev="0" advAuto="0" spid="231" grpId="8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TART"/>
          <p:cNvSpPr/>
          <p:nvPr/>
        </p:nvSpPr>
        <p:spPr>
          <a:xfrm>
            <a:off x="15527187" y="505169"/>
            <a:ext cx="2348354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234" name="LLM"/>
          <p:cNvSpPr/>
          <p:nvPr/>
        </p:nvSpPr>
        <p:spPr>
          <a:xfrm>
            <a:off x="15391449" y="3234457"/>
            <a:ext cx="2619830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35" name="API Calls"/>
          <p:cNvSpPr/>
          <p:nvPr/>
        </p:nvSpPr>
        <p:spPr>
          <a:xfrm>
            <a:off x="15460312" y="5931477"/>
            <a:ext cx="2482102" cy="18530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API Calls</a:t>
            </a:r>
          </a:p>
        </p:txBody>
      </p:sp>
      <p:sp>
        <p:nvSpPr>
          <p:cNvPr id="236" name="DB Updates"/>
          <p:cNvSpPr/>
          <p:nvPr/>
        </p:nvSpPr>
        <p:spPr>
          <a:xfrm>
            <a:off x="15460312" y="8569149"/>
            <a:ext cx="2482102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DB Updates</a:t>
            </a:r>
          </a:p>
        </p:txBody>
      </p:sp>
      <p:sp>
        <p:nvSpPr>
          <p:cNvPr id="237" name="END"/>
          <p:cNvSpPr/>
          <p:nvPr/>
        </p:nvSpPr>
        <p:spPr>
          <a:xfrm>
            <a:off x="15460312" y="11327073"/>
            <a:ext cx="2482102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END</a:t>
            </a:r>
          </a:p>
        </p:txBody>
      </p:sp>
      <p:sp>
        <p:nvSpPr>
          <p:cNvPr id="238" name="RAG"/>
          <p:cNvSpPr/>
          <p:nvPr/>
        </p:nvSpPr>
        <p:spPr>
          <a:xfrm>
            <a:off x="11305993" y="5088934"/>
            <a:ext cx="2619830" cy="1912394"/>
          </a:xfrm>
          <a:prstGeom prst="ellipse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RAG</a:t>
            </a:r>
          </a:p>
        </p:txBody>
      </p:sp>
      <p:sp>
        <p:nvSpPr>
          <p:cNvPr id="239" name="Tools"/>
          <p:cNvSpPr/>
          <p:nvPr/>
        </p:nvSpPr>
        <p:spPr>
          <a:xfrm>
            <a:off x="21584200" y="4853021"/>
            <a:ext cx="2619830" cy="1912393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240" name="Line"/>
          <p:cNvSpPr/>
          <p:nvPr/>
        </p:nvSpPr>
        <p:spPr>
          <a:xfrm>
            <a:off x="16701364" y="258319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1" name="Line"/>
          <p:cNvSpPr/>
          <p:nvPr/>
        </p:nvSpPr>
        <p:spPr>
          <a:xfrm flipH="1">
            <a:off x="13994029" y="4676703"/>
            <a:ext cx="1312066" cy="90807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2" name="Line"/>
          <p:cNvSpPr/>
          <p:nvPr/>
        </p:nvSpPr>
        <p:spPr>
          <a:xfrm>
            <a:off x="16701364" y="800846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3" name="Line"/>
          <p:cNvSpPr/>
          <p:nvPr/>
        </p:nvSpPr>
        <p:spPr>
          <a:xfrm>
            <a:off x="16701364" y="10675809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4" name="Line"/>
          <p:cNvSpPr/>
          <p:nvPr/>
        </p:nvSpPr>
        <p:spPr>
          <a:xfrm>
            <a:off x="16701364" y="552401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5" name="Workflow"/>
          <p:cNvSpPr txBox="1"/>
          <p:nvPr/>
        </p:nvSpPr>
        <p:spPr>
          <a:xfrm>
            <a:off x="725661" y="535123"/>
            <a:ext cx="5312743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246" name="Memory/state sharing"/>
          <p:cNvSpPr txBox="1"/>
          <p:nvPr/>
        </p:nvSpPr>
        <p:spPr>
          <a:xfrm>
            <a:off x="3772646" y="3671780"/>
            <a:ext cx="7440738" cy="95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Memory/state sharing</a:t>
            </a:r>
          </a:p>
        </p:txBody>
      </p:sp>
      <p:sp>
        <p:nvSpPr>
          <p:cNvPr id="247" name="Conditional Routing"/>
          <p:cNvSpPr txBox="1"/>
          <p:nvPr/>
        </p:nvSpPr>
        <p:spPr>
          <a:xfrm>
            <a:off x="3772646" y="5332731"/>
            <a:ext cx="6765058" cy="95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Conditional Routing</a:t>
            </a:r>
          </a:p>
        </p:txBody>
      </p:sp>
      <p:sp>
        <p:nvSpPr>
          <p:cNvPr id="248" name="Tool Calling"/>
          <p:cNvSpPr txBox="1"/>
          <p:nvPr/>
        </p:nvSpPr>
        <p:spPr>
          <a:xfrm>
            <a:off x="3772646" y="6993683"/>
            <a:ext cx="4053410" cy="95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 Calling</a:t>
            </a:r>
          </a:p>
        </p:txBody>
      </p:sp>
      <p:sp>
        <p:nvSpPr>
          <p:cNvPr id="249" name="Human in the loop"/>
          <p:cNvSpPr txBox="1"/>
          <p:nvPr/>
        </p:nvSpPr>
        <p:spPr>
          <a:xfrm>
            <a:off x="3815521" y="8668600"/>
            <a:ext cx="6298854" cy="95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in the loop</a:t>
            </a:r>
          </a:p>
        </p:txBody>
      </p:sp>
      <p:sp>
        <p:nvSpPr>
          <p:cNvPr id="250" name="Persistence"/>
          <p:cNvSpPr txBox="1"/>
          <p:nvPr/>
        </p:nvSpPr>
        <p:spPr>
          <a:xfrm>
            <a:off x="3815521" y="10343518"/>
            <a:ext cx="4095453" cy="95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Persistence</a:t>
            </a:r>
          </a:p>
        </p:txBody>
      </p:sp>
      <p:sp>
        <p:nvSpPr>
          <p:cNvPr id="251" name="Async and Streaming"/>
          <p:cNvSpPr txBox="1"/>
          <p:nvPr/>
        </p:nvSpPr>
        <p:spPr>
          <a:xfrm>
            <a:off x="3815521" y="11849172"/>
            <a:ext cx="7357022" cy="952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6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Async and Streaming</a:t>
            </a:r>
          </a:p>
        </p:txBody>
      </p:sp>
      <p:sp>
        <p:nvSpPr>
          <p:cNvPr id="252" name="Why"/>
          <p:cNvSpPr txBox="1"/>
          <p:nvPr/>
        </p:nvSpPr>
        <p:spPr>
          <a:xfrm>
            <a:off x="600389" y="7035209"/>
            <a:ext cx="2654301" cy="152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253" name="Node"/>
          <p:cNvSpPr txBox="1"/>
          <p:nvPr/>
        </p:nvSpPr>
        <p:spPr>
          <a:xfrm>
            <a:off x="13580588" y="1359697"/>
            <a:ext cx="1632347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Node</a:t>
            </a:r>
          </a:p>
        </p:txBody>
      </p:sp>
      <p:sp>
        <p:nvSpPr>
          <p:cNvPr id="254" name="Edge"/>
          <p:cNvSpPr txBox="1"/>
          <p:nvPr/>
        </p:nvSpPr>
        <p:spPr>
          <a:xfrm>
            <a:off x="17302466" y="2402979"/>
            <a:ext cx="1597311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Edge</a:t>
            </a:r>
          </a:p>
        </p:txBody>
      </p:sp>
      <p:sp>
        <p:nvSpPr>
          <p:cNvPr id="255" name="State"/>
          <p:cNvSpPr txBox="1"/>
          <p:nvPr/>
        </p:nvSpPr>
        <p:spPr>
          <a:xfrm>
            <a:off x="13860440" y="2813785"/>
            <a:ext cx="1597001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</a:t>
            </a:r>
          </a:p>
        </p:txBody>
      </p:sp>
      <p:sp>
        <p:nvSpPr>
          <p:cNvPr id="260" name="Connection Line"/>
          <p:cNvSpPr/>
          <p:nvPr/>
        </p:nvSpPr>
        <p:spPr>
          <a:xfrm>
            <a:off x="17028204" y="4757459"/>
            <a:ext cx="4568304" cy="1186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47" fill="norm" stroke="1" extrusionOk="0">
                <a:moveTo>
                  <a:pt x="21600" y="20782"/>
                </a:moveTo>
                <a:cubicBezTo>
                  <a:pt x="14026" y="21600"/>
                  <a:pt x="6826" y="14673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61" name="Connection Line"/>
          <p:cNvSpPr/>
          <p:nvPr/>
        </p:nvSpPr>
        <p:spPr>
          <a:xfrm>
            <a:off x="17848950" y="3885403"/>
            <a:ext cx="4190765" cy="11989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64" fill="norm" stroke="1" extrusionOk="0">
                <a:moveTo>
                  <a:pt x="21600" y="19164"/>
                </a:moveTo>
                <a:cubicBezTo>
                  <a:pt x="14828" y="3661"/>
                  <a:pt x="7628" y="-2436"/>
                  <a:pt x="0" y="873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58" name="Use Tool"/>
          <p:cNvSpPr txBox="1"/>
          <p:nvPr/>
        </p:nvSpPr>
        <p:spPr>
          <a:xfrm>
            <a:off x="19128680" y="5221128"/>
            <a:ext cx="20802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Use Tool</a:t>
            </a:r>
          </a:p>
        </p:txBody>
      </p:sp>
      <p:sp>
        <p:nvSpPr>
          <p:cNvPr id="259" name="Result"/>
          <p:cNvSpPr txBox="1"/>
          <p:nvPr/>
        </p:nvSpPr>
        <p:spPr>
          <a:xfrm>
            <a:off x="20663590" y="3799778"/>
            <a:ext cx="154432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5" grpId="1"/>
      <p:bldP build="whole" bldLvl="1" animBg="1" rev="0" advAuto="0" spid="244" grpId="17"/>
      <p:bldP build="whole" bldLvl="1" animBg="1" rev="0" advAuto="0" spid="252" grpId="21"/>
      <p:bldP build="whole" bldLvl="1" animBg="1" rev="0" advAuto="0" spid="248" grpId="24"/>
      <p:bldP build="whole" bldLvl="1" animBg="1" rev="0" advAuto="0" spid="260" grpId="13"/>
      <p:bldP build="whole" bldLvl="1" animBg="1" rev="0" advAuto="0" spid="259" grpId="16"/>
      <p:bldP build="whole" bldLvl="1" animBg="1" rev="0" advAuto="0" spid="246" grpId="22"/>
      <p:bldP build="whole" bldLvl="1" animBg="1" rev="0" advAuto="0" spid="236" grpId="8"/>
      <p:bldP build="whole" bldLvl="1" animBg="1" rev="0" advAuto="0" spid="247" grpId="23"/>
      <p:bldP build="whole" bldLvl="1" animBg="1" rev="0" advAuto="0" spid="249" grpId="25"/>
      <p:bldP build="whole" bldLvl="1" animBg="1" rev="0" advAuto="0" spid="233" grpId="3"/>
      <p:bldP build="whole" bldLvl="1" animBg="1" rev="0" advAuto="0" spid="250" grpId="26"/>
      <p:bldP build="whole" bldLvl="1" animBg="1" rev="0" advAuto="0" spid="258" grpId="14"/>
      <p:bldP build="whole" bldLvl="1" animBg="1" rev="0" advAuto="0" spid="254" grpId="10"/>
      <p:bldP build="whole" bldLvl="1" animBg="1" rev="0" advAuto="0" spid="253" grpId="2"/>
      <p:bldP build="whole" bldLvl="1" animBg="1" rev="0" advAuto="0" spid="261" grpId="15"/>
      <p:bldP build="whole" bldLvl="1" animBg="1" rev="0" advAuto="0" spid="241" grpId="12"/>
      <p:bldP build="whole" bldLvl="1" animBg="1" rev="0" advAuto="0" spid="239" grpId="6"/>
      <p:bldP build="whole" bldLvl="1" animBg="1" rev="0" advAuto="0" spid="240" grpId="11"/>
      <p:bldP build="whole" bldLvl="1" animBg="1" rev="0" advAuto="0" spid="234" grpId="4"/>
      <p:bldP build="whole" bldLvl="1" animBg="1" rev="0" advAuto="0" spid="237" grpId="9"/>
      <p:bldP build="whole" bldLvl="1" animBg="1" rev="0" advAuto="0" spid="238" grpId="5"/>
      <p:bldP build="whole" bldLvl="1" animBg="1" rev="0" advAuto="0" spid="242" grpId="18"/>
      <p:bldP build="whole" bldLvl="1" animBg="1" rev="0" advAuto="0" spid="251" grpId="27"/>
      <p:bldP build="whole" bldLvl="1" animBg="1" rev="0" advAuto="0" spid="243" grpId="19"/>
      <p:bldP build="whole" bldLvl="1" animBg="1" rev="0" advAuto="0" spid="255" grpId="20"/>
      <p:bldP build="whole" bldLvl="1" animBg="1" rev="0" advAuto="0" spid="235" grpId="7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Usecases"/>
          <p:cNvSpPr txBox="1"/>
          <p:nvPr/>
        </p:nvSpPr>
        <p:spPr>
          <a:xfrm>
            <a:off x="751061" y="509723"/>
            <a:ext cx="5690395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Usecases</a:t>
            </a:r>
          </a:p>
        </p:txBody>
      </p:sp>
      <p:sp>
        <p:nvSpPr>
          <p:cNvPr id="264" name="Multi-Agent Research Assistant"/>
          <p:cNvSpPr txBox="1"/>
          <p:nvPr/>
        </p:nvSpPr>
        <p:spPr>
          <a:xfrm>
            <a:off x="1061132" y="2810619"/>
            <a:ext cx="14231640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Multi-Agent Research Assistant</a:t>
            </a:r>
          </a:p>
        </p:txBody>
      </p:sp>
      <p:sp>
        <p:nvSpPr>
          <p:cNvPr id="265" name="RAG-Based Knowledge Bot"/>
          <p:cNvSpPr txBox="1"/>
          <p:nvPr/>
        </p:nvSpPr>
        <p:spPr>
          <a:xfrm>
            <a:off x="705532" y="4677990"/>
            <a:ext cx="13109278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	</a:t>
            </a:r>
            <a:r>
              <a:t>RAG-Based Knowledge Bot</a:t>
            </a:r>
          </a:p>
        </p:txBody>
      </p:sp>
      <p:sp>
        <p:nvSpPr>
          <p:cNvPr id="266" name="Intelligent Claim Processing System"/>
          <p:cNvSpPr txBox="1"/>
          <p:nvPr/>
        </p:nvSpPr>
        <p:spPr>
          <a:xfrm>
            <a:off x="1213532" y="6324600"/>
            <a:ext cx="16320195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Intelligent Claim Processing System</a:t>
            </a:r>
          </a:p>
        </p:txBody>
      </p:sp>
      <p:sp>
        <p:nvSpPr>
          <p:cNvPr id="267" name="AI-Powered Student Tutor"/>
          <p:cNvSpPr txBox="1"/>
          <p:nvPr/>
        </p:nvSpPr>
        <p:spPr>
          <a:xfrm>
            <a:off x="1357300" y="8229600"/>
            <a:ext cx="118057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AI-Powered Student Tutor</a:t>
            </a:r>
          </a:p>
        </p:txBody>
      </p:sp>
      <p:sp>
        <p:nvSpPr>
          <p:cNvPr id="268" name="Autonomous Coding Assistant with Reviewer Loop"/>
          <p:cNvSpPr txBox="1"/>
          <p:nvPr/>
        </p:nvSpPr>
        <p:spPr>
          <a:xfrm>
            <a:off x="1357300" y="10134600"/>
            <a:ext cx="22818031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Autonomous Coding Assistant with Reviewer Loop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5" grpId="3"/>
      <p:bldP build="whole" bldLvl="1" animBg="1" rev="0" advAuto="0" spid="268" grpId="6"/>
      <p:bldP build="whole" bldLvl="1" animBg="1" rev="0" advAuto="0" spid="266" grpId="4"/>
      <p:bldP build="whole" bldLvl="1" animBg="1" rev="0" advAuto="0" spid="264" grpId="2"/>
      <p:bldP build="whole" bldLvl="1" animBg="1" rev="0" advAuto="0" spid="263" grpId="1"/>
      <p:bldP build="whole" bldLvl="1" animBg="1" rev="0" advAuto="0" spid="267" grpId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__start__"/>
          <p:cNvSpPr/>
          <p:nvPr/>
        </p:nvSpPr>
        <p:spPr>
          <a:xfrm>
            <a:off x="11616969" y="1388121"/>
            <a:ext cx="2348354" cy="1883758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__start__</a:t>
            </a:r>
          </a:p>
        </p:txBody>
      </p:sp>
      <p:sp>
        <p:nvSpPr>
          <p:cNvPr id="271" name="get_data"/>
          <p:cNvSpPr/>
          <p:nvPr/>
        </p:nvSpPr>
        <p:spPr>
          <a:xfrm>
            <a:off x="11481231" y="4117410"/>
            <a:ext cx="2619830" cy="1912393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get_data</a:t>
            </a:r>
          </a:p>
        </p:txBody>
      </p:sp>
      <p:sp>
        <p:nvSpPr>
          <p:cNvPr id="272" name="__end__"/>
          <p:cNvSpPr/>
          <p:nvPr/>
        </p:nvSpPr>
        <p:spPr>
          <a:xfrm>
            <a:off x="11804094" y="9644318"/>
            <a:ext cx="2482103" cy="1853046"/>
          </a:xfrm>
          <a:prstGeom prst="ellipse">
            <a:avLst/>
          </a:prstGeom>
          <a:solidFill>
            <a:srgbClr val="ED220D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__end__</a:t>
            </a:r>
          </a:p>
        </p:txBody>
      </p:sp>
      <p:sp>
        <p:nvSpPr>
          <p:cNvPr id="273" name="should_continue"/>
          <p:cNvSpPr/>
          <p:nvPr/>
        </p:nvSpPr>
        <p:spPr>
          <a:xfrm>
            <a:off x="7533503" y="5971887"/>
            <a:ext cx="2482103" cy="1912393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should_continue</a:t>
            </a:r>
          </a:p>
        </p:txBody>
      </p:sp>
      <p:sp>
        <p:nvSpPr>
          <p:cNvPr id="274" name="Line"/>
          <p:cNvSpPr/>
          <p:nvPr/>
        </p:nvSpPr>
        <p:spPr>
          <a:xfrm>
            <a:off x="12791146" y="3466145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5" name="Line"/>
          <p:cNvSpPr/>
          <p:nvPr/>
        </p:nvSpPr>
        <p:spPr>
          <a:xfrm flipH="1">
            <a:off x="10083812" y="5559656"/>
            <a:ext cx="1312065" cy="90807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Line"/>
          <p:cNvSpPr/>
          <p:nvPr/>
        </p:nvSpPr>
        <p:spPr>
          <a:xfrm flipH="1">
            <a:off x="6454536" y="7864702"/>
            <a:ext cx="1323567" cy="150025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7" name="Conditional Routing"/>
          <p:cNvSpPr txBox="1"/>
          <p:nvPr/>
        </p:nvSpPr>
        <p:spPr>
          <a:xfrm>
            <a:off x="441855" y="487815"/>
            <a:ext cx="8981976" cy="123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8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Conditional Routing</a:t>
            </a:r>
          </a:p>
        </p:txBody>
      </p:sp>
      <p:sp>
        <p:nvSpPr>
          <p:cNvPr id="278" name="Line"/>
          <p:cNvSpPr/>
          <p:nvPr/>
        </p:nvSpPr>
        <p:spPr>
          <a:xfrm>
            <a:off x="9513336" y="7844050"/>
            <a:ext cx="2325904" cy="232590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9" name="prin"/>
          <p:cNvSpPr/>
          <p:nvPr/>
        </p:nvSpPr>
        <p:spPr>
          <a:xfrm>
            <a:off x="5213486" y="9644318"/>
            <a:ext cx="2482103" cy="1853046"/>
          </a:xfrm>
          <a:prstGeom prst="ellipse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prin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heckpoint ID"/>
          <p:cNvSpPr txBox="1"/>
          <p:nvPr/>
        </p:nvSpPr>
        <p:spPr>
          <a:xfrm>
            <a:off x="9336456" y="4070038"/>
            <a:ext cx="4337051" cy="845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 Checkpoint ID</a:t>
            </a:r>
          </a:p>
        </p:txBody>
      </p:sp>
      <p:sp>
        <p:nvSpPr>
          <p:cNvPr id="282" name="Graph State"/>
          <p:cNvSpPr txBox="1"/>
          <p:nvPr/>
        </p:nvSpPr>
        <p:spPr>
          <a:xfrm>
            <a:off x="9542451" y="5553001"/>
            <a:ext cx="354838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Graph State</a:t>
            </a:r>
          </a:p>
        </p:txBody>
      </p:sp>
      <p:sp>
        <p:nvSpPr>
          <p:cNvPr id="283" name="Current Node Info"/>
          <p:cNvSpPr txBox="1"/>
          <p:nvPr/>
        </p:nvSpPr>
        <p:spPr>
          <a:xfrm>
            <a:off x="9293175" y="7018184"/>
            <a:ext cx="537136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/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t>Current Node Info</a:t>
            </a:r>
          </a:p>
        </p:txBody>
      </p:sp>
      <p:sp>
        <p:nvSpPr>
          <p:cNvPr id="284" name="Edge info"/>
          <p:cNvSpPr txBox="1"/>
          <p:nvPr/>
        </p:nvSpPr>
        <p:spPr>
          <a:xfrm>
            <a:off x="9533701" y="8501146"/>
            <a:ext cx="280733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Edge info</a:t>
            </a:r>
          </a:p>
        </p:txBody>
      </p:sp>
      <p:sp>
        <p:nvSpPr>
          <p:cNvPr id="285" name="Metadata (optional)"/>
          <p:cNvSpPr txBox="1"/>
          <p:nvPr/>
        </p:nvSpPr>
        <p:spPr>
          <a:xfrm>
            <a:off x="9495838" y="9984109"/>
            <a:ext cx="559498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Metadata (optional)</a:t>
            </a:r>
          </a:p>
        </p:txBody>
      </p:sp>
      <p:sp>
        <p:nvSpPr>
          <p:cNvPr id="286" name="Checkpointer"/>
          <p:cNvSpPr txBox="1"/>
          <p:nvPr/>
        </p:nvSpPr>
        <p:spPr>
          <a:xfrm>
            <a:off x="663318" y="499193"/>
            <a:ext cx="6661405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Checkpointer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HITL"/>
          <p:cNvSpPr txBox="1"/>
          <p:nvPr/>
        </p:nvSpPr>
        <p:spPr>
          <a:xfrm>
            <a:off x="556868" y="397593"/>
            <a:ext cx="239014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HITL</a:t>
            </a:r>
          </a:p>
        </p:txBody>
      </p:sp>
      <p:sp>
        <p:nvSpPr>
          <p:cNvPr id="289" name="Agent"/>
          <p:cNvSpPr/>
          <p:nvPr/>
        </p:nvSpPr>
        <p:spPr>
          <a:xfrm>
            <a:off x="3595980" y="5318709"/>
            <a:ext cx="4009971" cy="2040028"/>
          </a:xfrm>
          <a:prstGeom prst="ellipse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290" name="Next Steps"/>
          <p:cNvSpPr/>
          <p:nvPr/>
        </p:nvSpPr>
        <p:spPr>
          <a:xfrm>
            <a:off x="15514409" y="5255526"/>
            <a:ext cx="4074476" cy="2166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Next Steps</a:t>
            </a:r>
          </a:p>
        </p:txBody>
      </p:sp>
      <p:sp>
        <p:nvSpPr>
          <p:cNvPr id="291" name="Line"/>
          <p:cNvSpPr/>
          <p:nvPr/>
        </p:nvSpPr>
        <p:spPr>
          <a:xfrm>
            <a:off x="12849555" y="6338723"/>
            <a:ext cx="2619831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2" name="Human Review"/>
          <p:cNvSpPr/>
          <p:nvPr/>
        </p:nvSpPr>
        <p:spPr>
          <a:xfrm>
            <a:off x="9353009" y="5601825"/>
            <a:ext cx="3451524" cy="1473796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293" name="Line"/>
          <p:cNvSpPr/>
          <p:nvPr/>
        </p:nvSpPr>
        <p:spPr>
          <a:xfrm>
            <a:off x="7651527" y="6314348"/>
            <a:ext cx="1656460" cy="2889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Validation"/>
          <p:cNvSpPr txBox="1"/>
          <p:nvPr/>
        </p:nvSpPr>
        <p:spPr>
          <a:xfrm>
            <a:off x="12542265" y="7262751"/>
            <a:ext cx="366826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Validation</a:t>
            </a:r>
          </a:p>
        </p:txBody>
      </p:sp>
      <p:sp>
        <p:nvSpPr>
          <p:cNvPr id="295" name="Input"/>
          <p:cNvSpPr txBox="1"/>
          <p:nvPr/>
        </p:nvSpPr>
        <p:spPr>
          <a:xfrm>
            <a:off x="12626086" y="8469179"/>
            <a:ext cx="197662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Input</a:t>
            </a:r>
          </a:p>
        </p:txBody>
      </p:sp>
      <p:sp>
        <p:nvSpPr>
          <p:cNvPr id="296" name="Decision"/>
          <p:cNvSpPr txBox="1"/>
          <p:nvPr/>
        </p:nvSpPr>
        <p:spPr>
          <a:xfrm>
            <a:off x="12522694" y="9675606"/>
            <a:ext cx="3273553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Decision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8" grpId="1"/>
      <p:bldP build="whole" bldLvl="1" animBg="1" rev="0" advAuto="0" spid="289" grpId="2"/>
      <p:bldP build="whole" bldLvl="1" animBg="1" rev="0" advAuto="0" spid="292" grpId="4"/>
      <p:bldP build="whole" bldLvl="1" animBg="1" rev="0" advAuto="0" spid="294" grpId="7"/>
      <p:bldP build="whole" bldLvl="1" animBg="1" rev="0" advAuto="0" spid="291" grpId="5"/>
      <p:bldP build="whole" bldLvl="1" animBg="1" rev="0" advAuto="0" spid="290" grpId="6"/>
      <p:bldP build="whole" bldLvl="1" animBg="1" rev="0" advAuto="0" spid="295" grpId="8"/>
      <p:bldP build="whole" bldLvl="1" animBg="1" rev="0" advAuto="0" spid="296" grpId="9"/>
      <p:bldP build="whole" bldLvl="1" animBg="1" rev="0" advAuto="0" spid="293" grpId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port to stake holders"/>
          <p:cNvSpPr txBox="1"/>
          <p:nvPr/>
        </p:nvSpPr>
        <p:spPr>
          <a:xfrm>
            <a:off x="6173162" y="4481351"/>
            <a:ext cx="677100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Report to stake holders</a:t>
            </a:r>
          </a:p>
        </p:txBody>
      </p:sp>
      <p:sp>
        <p:nvSpPr>
          <p:cNvPr id="299" name="Accept/Reject"/>
          <p:cNvSpPr txBox="1"/>
          <p:nvPr/>
        </p:nvSpPr>
        <p:spPr>
          <a:xfrm>
            <a:off x="4544387" y="3211351"/>
            <a:ext cx="413575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Accept/Reject</a:t>
            </a:r>
          </a:p>
        </p:txBody>
      </p:sp>
      <p:sp>
        <p:nvSpPr>
          <p:cNvPr id="300" name="Report Generator"/>
          <p:cNvSpPr/>
          <p:nvPr/>
        </p:nvSpPr>
        <p:spPr>
          <a:xfrm>
            <a:off x="5741304" y="6793845"/>
            <a:ext cx="2348355" cy="1883757"/>
          </a:xfrm>
          <a:prstGeom prst="ellipse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Report</a:t>
            </a:r>
            <a:br/>
            <a:r>
              <a:t>Generator</a:t>
            </a:r>
          </a:p>
        </p:txBody>
      </p:sp>
      <p:sp>
        <p:nvSpPr>
          <p:cNvPr id="301" name="Accept"/>
          <p:cNvSpPr/>
          <p:nvPr/>
        </p:nvSpPr>
        <p:spPr>
          <a:xfrm>
            <a:off x="16248167" y="4504836"/>
            <a:ext cx="2619831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Accept</a:t>
            </a:r>
          </a:p>
        </p:txBody>
      </p:sp>
      <p:sp>
        <p:nvSpPr>
          <p:cNvPr id="302" name="Line"/>
          <p:cNvSpPr/>
          <p:nvPr/>
        </p:nvSpPr>
        <p:spPr>
          <a:xfrm flipV="1">
            <a:off x="13332156" y="5874984"/>
            <a:ext cx="2865852" cy="144540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3" name="Human Review"/>
          <p:cNvSpPr/>
          <p:nvPr/>
        </p:nvSpPr>
        <p:spPr>
          <a:xfrm>
            <a:off x="9835609" y="6871825"/>
            <a:ext cx="3451524" cy="1473796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304" name="Reject"/>
          <p:cNvSpPr/>
          <p:nvPr/>
        </p:nvSpPr>
        <p:spPr>
          <a:xfrm>
            <a:off x="16476767" y="8820856"/>
            <a:ext cx="2619831" cy="1912393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Reject</a:t>
            </a:r>
          </a:p>
        </p:txBody>
      </p:sp>
      <p:sp>
        <p:nvSpPr>
          <p:cNvPr id="305" name="Line"/>
          <p:cNvSpPr/>
          <p:nvPr/>
        </p:nvSpPr>
        <p:spPr>
          <a:xfrm>
            <a:off x="8134682" y="7711348"/>
            <a:ext cx="1656459" cy="2889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6" name="Line"/>
          <p:cNvSpPr/>
          <p:nvPr/>
        </p:nvSpPr>
        <p:spPr>
          <a:xfrm>
            <a:off x="13453524" y="8091776"/>
            <a:ext cx="3020410" cy="168987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4" grpId="9"/>
      <p:bldP build="whole" bldLvl="1" animBg="1" rev="0" advAuto="0" spid="303" grpId="5"/>
      <p:bldP build="whole" bldLvl="1" animBg="1" rev="0" advAuto="0" spid="298" grpId="2"/>
      <p:bldP build="whole" bldLvl="1" animBg="1" rev="0" advAuto="0" spid="301" grpId="7"/>
      <p:bldP build="whole" bldLvl="1" animBg="1" rev="0" advAuto="0" spid="305" grpId="4"/>
      <p:bldP build="whole" bldLvl="1" animBg="1" rev="0" advAuto="0" spid="302" grpId="6"/>
      <p:bldP build="whole" bldLvl="1" animBg="1" rev="0" advAuto="0" spid="299" grpId="1"/>
      <p:bldP build="whole" bldLvl="1" animBg="1" rev="0" advAuto="0" spid="306" grpId="8"/>
      <p:bldP build="whole" bldLvl="1" animBg="1" rev="0" advAuto="0" spid="300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referred Vendor/API"/>
          <p:cNvSpPr txBox="1"/>
          <p:nvPr/>
        </p:nvSpPr>
        <p:spPr>
          <a:xfrm>
            <a:off x="5899204" y="4581849"/>
            <a:ext cx="615052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Preferred Vendor/API</a:t>
            </a:r>
          </a:p>
        </p:txBody>
      </p:sp>
      <p:sp>
        <p:nvSpPr>
          <p:cNvPr id="309" name="Review Tool Calls"/>
          <p:cNvSpPr txBox="1"/>
          <p:nvPr/>
        </p:nvSpPr>
        <p:spPr>
          <a:xfrm>
            <a:off x="2203586" y="2659834"/>
            <a:ext cx="861415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Review Tool Calls</a:t>
            </a:r>
          </a:p>
        </p:txBody>
      </p:sp>
      <p:sp>
        <p:nvSpPr>
          <p:cNvPr id="310" name="LLM"/>
          <p:cNvSpPr/>
          <p:nvPr/>
        </p:nvSpPr>
        <p:spPr>
          <a:xfrm>
            <a:off x="6985904" y="7074202"/>
            <a:ext cx="2348355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311" name="HL7"/>
          <p:cNvSpPr/>
          <p:nvPr/>
        </p:nvSpPr>
        <p:spPr>
          <a:xfrm>
            <a:off x="17391167" y="4581993"/>
            <a:ext cx="2619831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HL7</a:t>
            </a:r>
          </a:p>
        </p:txBody>
      </p:sp>
      <p:sp>
        <p:nvSpPr>
          <p:cNvPr id="312" name="Line"/>
          <p:cNvSpPr/>
          <p:nvPr/>
        </p:nvSpPr>
        <p:spPr>
          <a:xfrm flipV="1">
            <a:off x="14576755" y="6097059"/>
            <a:ext cx="2606690" cy="150368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3" name="Human Review"/>
          <p:cNvSpPr/>
          <p:nvPr/>
        </p:nvSpPr>
        <p:spPr>
          <a:xfrm>
            <a:off x="11080209" y="7152182"/>
            <a:ext cx="3451524" cy="1473797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314" name="FHIR"/>
          <p:cNvSpPr/>
          <p:nvPr/>
        </p:nvSpPr>
        <p:spPr>
          <a:xfrm>
            <a:off x="17391167" y="8567813"/>
            <a:ext cx="2619831" cy="1912393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FHIR</a:t>
            </a:r>
          </a:p>
        </p:txBody>
      </p:sp>
      <p:sp>
        <p:nvSpPr>
          <p:cNvPr id="315" name="Line"/>
          <p:cNvSpPr/>
          <p:nvPr/>
        </p:nvSpPr>
        <p:spPr>
          <a:xfrm>
            <a:off x="9379282" y="7991705"/>
            <a:ext cx="1656459" cy="2889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6" name="Line"/>
          <p:cNvSpPr/>
          <p:nvPr/>
        </p:nvSpPr>
        <p:spPr>
          <a:xfrm>
            <a:off x="14700196" y="7960905"/>
            <a:ext cx="2536313" cy="144119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7" name="Select"/>
          <p:cNvSpPr txBox="1"/>
          <p:nvPr/>
        </p:nvSpPr>
        <p:spPr>
          <a:xfrm>
            <a:off x="14868969" y="7415975"/>
            <a:ext cx="1250062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Select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1" grpId="8"/>
      <p:bldP build="whole" bldLvl="1" animBg="1" rev="0" advAuto="0" spid="309" grpId="1"/>
      <p:bldP build="whole" bldLvl="1" animBg="1" rev="0" advAuto="0" spid="310" grpId="3"/>
      <p:bldP build="whole" bldLvl="1" animBg="1" rev="0" advAuto="0" spid="308" grpId="2"/>
      <p:bldP build="whole" bldLvl="1" animBg="1" rev="0" advAuto="0" spid="315" grpId="4"/>
      <p:bldP build="whole" bldLvl="1" animBg="1" rev="0" advAuto="0" spid="312" grpId="7"/>
      <p:bldP build="whole" bldLvl="1" animBg="1" rev="0" advAuto="0" spid="316" grpId="9"/>
      <p:bldP build="whole" bldLvl="1" animBg="1" rev="0" advAuto="0" spid="317" grpId="6"/>
      <p:bldP build="whole" bldLvl="1" animBg="1" rev="0" advAuto="0" spid="313" grpId="5"/>
      <p:bldP build="whole" bldLvl="1" animBg="1" rev="0" advAuto="0" spid="314" grpId="1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omplex Customer Service Issue"/>
          <p:cNvSpPr txBox="1"/>
          <p:nvPr/>
        </p:nvSpPr>
        <p:spPr>
          <a:xfrm>
            <a:off x="3093963" y="4102108"/>
            <a:ext cx="1017841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Complex Customer Service Issue</a:t>
            </a:r>
          </a:p>
        </p:txBody>
      </p:sp>
      <p:sp>
        <p:nvSpPr>
          <p:cNvPr id="320" name="Fallback when agent is uncertain"/>
          <p:cNvSpPr txBox="1"/>
          <p:nvPr/>
        </p:nvSpPr>
        <p:spPr>
          <a:xfrm>
            <a:off x="458606" y="2151834"/>
            <a:ext cx="1606651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Fallback when agent is uncertain</a:t>
            </a:r>
          </a:p>
        </p:txBody>
      </p:sp>
      <p:sp>
        <p:nvSpPr>
          <p:cNvPr id="321" name="BOT"/>
          <p:cNvSpPr/>
          <p:nvPr/>
        </p:nvSpPr>
        <p:spPr>
          <a:xfrm>
            <a:off x="12954904" y="6166632"/>
            <a:ext cx="2348355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322" name="Human Review"/>
          <p:cNvSpPr/>
          <p:nvPr/>
        </p:nvSpPr>
        <p:spPr>
          <a:xfrm>
            <a:off x="17049210" y="6244613"/>
            <a:ext cx="3451524" cy="1473796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323" name="Line"/>
          <p:cNvSpPr/>
          <p:nvPr/>
        </p:nvSpPr>
        <p:spPr>
          <a:xfrm>
            <a:off x="15348282" y="7084136"/>
            <a:ext cx="1656459" cy="2889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4" name="Line"/>
          <p:cNvSpPr/>
          <p:nvPr/>
        </p:nvSpPr>
        <p:spPr>
          <a:xfrm flipV="1">
            <a:off x="9894790" y="7283675"/>
            <a:ext cx="2856311" cy="79288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5" name="Customer"/>
          <p:cNvSpPr/>
          <p:nvPr/>
        </p:nvSpPr>
        <p:spPr>
          <a:xfrm>
            <a:off x="6228809" y="7971813"/>
            <a:ext cx="3451524" cy="1473796"/>
          </a:xfrm>
          <a:prstGeom prst="rect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326" name="Line"/>
          <p:cNvSpPr/>
          <p:nvPr/>
        </p:nvSpPr>
        <p:spPr>
          <a:xfrm flipH="1">
            <a:off x="10118132" y="8170936"/>
            <a:ext cx="8270006" cy="136339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7" name="Line"/>
          <p:cNvSpPr/>
          <p:nvPr/>
        </p:nvSpPr>
        <p:spPr>
          <a:xfrm flipH="1">
            <a:off x="10143896" y="7694727"/>
            <a:ext cx="2872244" cy="77280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7" grpId="6"/>
      <p:bldP build="whole" bldLvl="1" animBg="1" rev="0" advAuto="0" spid="319" grpId="2"/>
      <p:bldP build="whole" bldLvl="1" animBg="1" rev="0" advAuto="0" spid="323" grpId="7"/>
      <p:bldP build="whole" bldLvl="1" animBg="1" rev="0" advAuto="0" spid="322" grpId="8"/>
      <p:bldP build="whole" bldLvl="1" animBg="1" rev="0" advAuto="0" spid="321" grpId="5"/>
      <p:bldP build="whole" bldLvl="1" animBg="1" rev="0" advAuto="0" spid="320" grpId="1"/>
      <p:bldP build="whole" bldLvl="1" animBg="1" rev="0" advAuto="0" spid="324" grpId="4"/>
      <p:bldP build="whole" bldLvl="1" animBg="1" rev="0" advAuto="0" spid="326" grpId="9"/>
      <p:bldP build="whole" bldLvl="1" animBg="1" rev="0" advAuto="0" spid="325" grpId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OCR to Form"/>
          <p:cNvSpPr txBox="1"/>
          <p:nvPr/>
        </p:nvSpPr>
        <p:spPr>
          <a:xfrm>
            <a:off x="6298657" y="3975811"/>
            <a:ext cx="5399250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OCR to Form</a:t>
            </a:r>
          </a:p>
        </p:txBody>
      </p:sp>
      <p:sp>
        <p:nvSpPr>
          <p:cNvPr id="330" name="Review and Edit State"/>
          <p:cNvSpPr txBox="1"/>
          <p:nvPr/>
        </p:nvSpPr>
        <p:spPr>
          <a:xfrm>
            <a:off x="1376562" y="1466034"/>
            <a:ext cx="10725405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Review and Edit State</a:t>
            </a:r>
          </a:p>
        </p:txBody>
      </p:sp>
      <p:sp>
        <p:nvSpPr>
          <p:cNvPr id="331" name="OCR Processor"/>
          <p:cNvSpPr/>
          <p:nvPr/>
        </p:nvSpPr>
        <p:spPr>
          <a:xfrm>
            <a:off x="7025147" y="6577551"/>
            <a:ext cx="2619831" cy="1883757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OCR Processor</a:t>
            </a:r>
          </a:p>
        </p:txBody>
      </p:sp>
      <p:sp>
        <p:nvSpPr>
          <p:cNvPr id="332" name="Human Review"/>
          <p:cNvSpPr/>
          <p:nvPr/>
        </p:nvSpPr>
        <p:spPr>
          <a:xfrm>
            <a:off x="11918409" y="6651013"/>
            <a:ext cx="3451524" cy="1473796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333" name="Form Processor"/>
          <p:cNvSpPr/>
          <p:nvPr/>
        </p:nvSpPr>
        <p:spPr>
          <a:xfrm>
            <a:off x="18330967" y="6431714"/>
            <a:ext cx="2619831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Form Processor</a:t>
            </a:r>
          </a:p>
        </p:txBody>
      </p:sp>
      <p:sp>
        <p:nvSpPr>
          <p:cNvPr id="334" name="Line"/>
          <p:cNvSpPr/>
          <p:nvPr/>
        </p:nvSpPr>
        <p:spPr>
          <a:xfrm>
            <a:off x="9689447" y="7519429"/>
            <a:ext cx="218449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Line"/>
          <p:cNvSpPr/>
          <p:nvPr/>
        </p:nvSpPr>
        <p:spPr>
          <a:xfrm>
            <a:off x="15538395" y="7459736"/>
            <a:ext cx="2619830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6" name="FIX"/>
          <p:cNvSpPr txBox="1"/>
          <p:nvPr/>
        </p:nvSpPr>
        <p:spPr>
          <a:xfrm>
            <a:off x="14737079" y="8332217"/>
            <a:ext cx="90424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FIX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5" grpId="7"/>
      <p:bldP build="whole" bldLvl="1" animBg="1" rev="0" advAuto="0" spid="331" grpId="3"/>
      <p:bldP build="whole" bldLvl="1" animBg="1" rev="0" advAuto="0" spid="329" grpId="2"/>
      <p:bldP build="whole" bldLvl="1" animBg="1" rev="0" advAuto="0" spid="330" grpId="1"/>
      <p:bldP build="whole" bldLvl="1" animBg="1" rev="0" advAuto="0" spid="332" grpId="5"/>
      <p:bldP build="whole" bldLvl="1" animBg="1" rev="0" advAuto="0" spid="333" grpId="8"/>
      <p:bldP build="whole" bldLvl="1" animBg="1" rev="0" advAuto="0" spid="336" grpId="6"/>
      <p:bldP build="whole" bldLvl="1" animBg="1" rev="0" advAuto="0" spid="334" grpId="4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TART"/>
          <p:cNvSpPr/>
          <p:nvPr/>
        </p:nvSpPr>
        <p:spPr>
          <a:xfrm>
            <a:off x="11888104" y="1635469"/>
            <a:ext cx="2348355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339" name="Code"/>
          <p:cNvSpPr/>
          <p:nvPr/>
        </p:nvSpPr>
        <p:spPr>
          <a:xfrm>
            <a:off x="11752367" y="4364757"/>
            <a:ext cx="2619830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340" name="Tests"/>
          <p:cNvSpPr/>
          <p:nvPr/>
        </p:nvSpPr>
        <p:spPr>
          <a:xfrm>
            <a:off x="11821229" y="7061777"/>
            <a:ext cx="2482103" cy="18530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341" name="END"/>
          <p:cNvSpPr/>
          <p:nvPr/>
        </p:nvSpPr>
        <p:spPr>
          <a:xfrm>
            <a:off x="11821230" y="10196773"/>
            <a:ext cx="2482103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END</a:t>
            </a:r>
          </a:p>
        </p:txBody>
      </p:sp>
      <p:sp>
        <p:nvSpPr>
          <p:cNvPr id="342" name="Line"/>
          <p:cNvSpPr/>
          <p:nvPr/>
        </p:nvSpPr>
        <p:spPr>
          <a:xfrm>
            <a:off x="13062281" y="371349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3" name="Line"/>
          <p:cNvSpPr/>
          <p:nvPr/>
        </p:nvSpPr>
        <p:spPr>
          <a:xfrm>
            <a:off x="13062281" y="9138763"/>
            <a:ext cx="1" cy="83407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4" name="Line"/>
          <p:cNvSpPr/>
          <p:nvPr/>
        </p:nvSpPr>
        <p:spPr>
          <a:xfrm flipV="1">
            <a:off x="9243359" y="5817085"/>
            <a:ext cx="2624503" cy="79555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5" name="Line"/>
          <p:cNvSpPr/>
          <p:nvPr/>
        </p:nvSpPr>
        <p:spPr>
          <a:xfrm>
            <a:off x="9049081" y="6882913"/>
            <a:ext cx="2608184" cy="105171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6" name="Line"/>
          <p:cNvSpPr/>
          <p:nvPr/>
        </p:nvSpPr>
        <p:spPr>
          <a:xfrm>
            <a:off x="8642680" y="7465541"/>
            <a:ext cx="2893937" cy="314116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7" name="Human Review"/>
          <p:cNvSpPr/>
          <p:nvPr/>
        </p:nvSpPr>
        <p:spPr>
          <a:xfrm>
            <a:off x="5079007" y="5851253"/>
            <a:ext cx="3451524" cy="1473797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Human Review</a:t>
            </a:r>
          </a:p>
        </p:txBody>
      </p:sp>
      <p:sp>
        <p:nvSpPr>
          <p:cNvPr id="348" name="Line"/>
          <p:cNvSpPr/>
          <p:nvPr/>
        </p:nvSpPr>
        <p:spPr>
          <a:xfrm flipH="1">
            <a:off x="8946589" y="5435113"/>
            <a:ext cx="2379634" cy="79713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9" name="interrupt"/>
          <p:cNvSpPr txBox="1"/>
          <p:nvPr/>
        </p:nvSpPr>
        <p:spPr>
          <a:xfrm>
            <a:off x="8677655" y="4848662"/>
            <a:ext cx="220268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interrupt</a:t>
            </a:r>
          </a:p>
        </p:txBody>
      </p:sp>
      <p:sp>
        <p:nvSpPr>
          <p:cNvPr id="350" name="Command"/>
          <p:cNvSpPr txBox="1"/>
          <p:nvPr/>
        </p:nvSpPr>
        <p:spPr>
          <a:xfrm>
            <a:off x="7694889" y="9201215"/>
            <a:ext cx="2624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Command</a:t>
            </a:r>
          </a:p>
        </p:txBody>
      </p:sp>
      <p:sp>
        <p:nvSpPr>
          <p:cNvPr id="351" name="Code and Test Generation"/>
          <p:cNvSpPr txBox="1"/>
          <p:nvPr/>
        </p:nvSpPr>
        <p:spPr>
          <a:xfrm>
            <a:off x="655810" y="620881"/>
            <a:ext cx="955471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Code and Test Generation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9" grpId="4"/>
      <p:bldP build="whole" bldLvl="1" animBg="1" rev="0" advAuto="0" spid="338" grpId="2"/>
      <p:bldP build="whole" bldLvl="1" animBg="1" rev="0" advAuto="0" spid="349" grpId="13"/>
      <p:bldP build="whole" bldLvl="1" animBg="1" rev="0" advAuto="0" spid="347" grpId="6"/>
      <p:bldP build="whole" bldLvl="1" animBg="1" rev="0" advAuto="0" spid="344" grpId="7"/>
      <p:bldP build="whole" bldLvl="1" animBg="1" rev="0" advAuto="0" spid="346" grpId="10"/>
      <p:bldP build="whole" bldLvl="1" animBg="1" rev="0" advAuto="0" spid="351" grpId="1"/>
      <p:bldP build="whole" bldLvl="1" animBg="1" rev="0" advAuto="0" spid="350" grpId="14"/>
      <p:bldP build="whole" bldLvl="1" animBg="1" rev="0" advAuto="0" spid="343" grpId="12"/>
      <p:bldP build="whole" bldLvl="1" animBg="1" rev="0" advAuto="0" spid="341" grpId="11"/>
      <p:bldP build="whole" bldLvl="1" animBg="1" rev="0" advAuto="0" spid="348" grpId="5"/>
      <p:bldP build="whole" bldLvl="1" animBg="1" rev="0" advAuto="0" spid="345" grpId="8"/>
      <p:bldP build="whole" bldLvl="1" animBg="1" rev="0" advAuto="0" spid="340" grpId="9"/>
      <p:bldP build="whole" bldLvl="1" animBg="1" rev="0" advAuto="0" spid="342" grpId="3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Node1"/>
          <p:cNvSpPr/>
          <p:nvPr/>
        </p:nvSpPr>
        <p:spPr>
          <a:xfrm>
            <a:off x="2911644" y="3767685"/>
            <a:ext cx="2619830" cy="1912393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Node1</a:t>
            </a:r>
          </a:p>
        </p:txBody>
      </p:sp>
      <p:sp>
        <p:nvSpPr>
          <p:cNvPr id="354" name="Node2"/>
          <p:cNvSpPr/>
          <p:nvPr/>
        </p:nvSpPr>
        <p:spPr>
          <a:xfrm>
            <a:off x="2980507" y="6464704"/>
            <a:ext cx="2482102" cy="18530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Node2</a:t>
            </a:r>
          </a:p>
        </p:txBody>
      </p:sp>
      <p:sp>
        <p:nvSpPr>
          <p:cNvPr id="355" name="Node3"/>
          <p:cNvSpPr/>
          <p:nvPr/>
        </p:nvSpPr>
        <p:spPr>
          <a:xfrm>
            <a:off x="2980507" y="9599700"/>
            <a:ext cx="2482103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Node3</a:t>
            </a:r>
          </a:p>
        </p:txBody>
      </p:sp>
      <p:sp>
        <p:nvSpPr>
          <p:cNvPr id="356" name="Line"/>
          <p:cNvSpPr/>
          <p:nvPr/>
        </p:nvSpPr>
        <p:spPr>
          <a:xfrm>
            <a:off x="4221559" y="5671491"/>
            <a:ext cx="1" cy="83406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7" name="Subgraphs"/>
          <p:cNvSpPr txBox="1"/>
          <p:nvPr/>
        </p:nvSpPr>
        <p:spPr>
          <a:xfrm>
            <a:off x="293355" y="322988"/>
            <a:ext cx="4708653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Subgraphs</a:t>
            </a:r>
          </a:p>
        </p:txBody>
      </p:sp>
      <p:sp>
        <p:nvSpPr>
          <p:cNvPr id="358" name="Line"/>
          <p:cNvSpPr/>
          <p:nvPr/>
        </p:nvSpPr>
        <p:spPr>
          <a:xfrm>
            <a:off x="4221559" y="8435260"/>
            <a:ext cx="1" cy="115531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9" name="Node1"/>
          <p:cNvSpPr/>
          <p:nvPr/>
        </p:nvSpPr>
        <p:spPr>
          <a:xfrm>
            <a:off x="8359944" y="3952440"/>
            <a:ext cx="2619830" cy="1912393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Node1</a:t>
            </a:r>
          </a:p>
        </p:txBody>
      </p:sp>
      <p:sp>
        <p:nvSpPr>
          <p:cNvPr id="360" name="Node2"/>
          <p:cNvSpPr/>
          <p:nvPr/>
        </p:nvSpPr>
        <p:spPr>
          <a:xfrm>
            <a:off x="8428807" y="6649460"/>
            <a:ext cx="2482103" cy="18530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Node2</a:t>
            </a:r>
          </a:p>
        </p:txBody>
      </p:sp>
      <p:sp>
        <p:nvSpPr>
          <p:cNvPr id="361" name="Node3"/>
          <p:cNvSpPr/>
          <p:nvPr/>
        </p:nvSpPr>
        <p:spPr>
          <a:xfrm>
            <a:off x="8428807" y="9784456"/>
            <a:ext cx="2482103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Node3</a:t>
            </a:r>
          </a:p>
        </p:txBody>
      </p:sp>
      <p:sp>
        <p:nvSpPr>
          <p:cNvPr id="362" name="Line"/>
          <p:cNvSpPr/>
          <p:nvPr/>
        </p:nvSpPr>
        <p:spPr>
          <a:xfrm>
            <a:off x="9796859" y="5957846"/>
            <a:ext cx="1" cy="83407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3" name="Line"/>
          <p:cNvSpPr/>
          <p:nvPr/>
        </p:nvSpPr>
        <p:spPr>
          <a:xfrm>
            <a:off x="9796859" y="8853446"/>
            <a:ext cx="1" cy="83406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4" name="Node1"/>
          <p:cNvSpPr/>
          <p:nvPr/>
        </p:nvSpPr>
        <p:spPr>
          <a:xfrm>
            <a:off x="13554243" y="3952440"/>
            <a:ext cx="2619831" cy="191239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Node1</a:t>
            </a:r>
          </a:p>
        </p:txBody>
      </p:sp>
      <p:sp>
        <p:nvSpPr>
          <p:cNvPr id="365" name="Node2"/>
          <p:cNvSpPr/>
          <p:nvPr/>
        </p:nvSpPr>
        <p:spPr>
          <a:xfrm>
            <a:off x="13623107" y="6884928"/>
            <a:ext cx="2482103" cy="185304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Node2</a:t>
            </a:r>
          </a:p>
        </p:txBody>
      </p:sp>
      <p:sp>
        <p:nvSpPr>
          <p:cNvPr id="366" name="Node3"/>
          <p:cNvSpPr/>
          <p:nvPr/>
        </p:nvSpPr>
        <p:spPr>
          <a:xfrm>
            <a:off x="13623107" y="9784456"/>
            <a:ext cx="2482103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Node3</a:t>
            </a:r>
          </a:p>
        </p:txBody>
      </p:sp>
      <p:sp>
        <p:nvSpPr>
          <p:cNvPr id="367" name="Line"/>
          <p:cNvSpPr/>
          <p:nvPr/>
        </p:nvSpPr>
        <p:spPr>
          <a:xfrm>
            <a:off x="14864158" y="8830987"/>
            <a:ext cx="1" cy="83406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8" name="State"/>
          <p:cNvSpPr txBox="1"/>
          <p:nvPr/>
        </p:nvSpPr>
        <p:spPr>
          <a:xfrm>
            <a:off x="5935678" y="3515213"/>
            <a:ext cx="2020063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State</a:t>
            </a:r>
          </a:p>
        </p:txBody>
      </p:sp>
      <p:sp>
        <p:nvSpPr>
          <p:cNvPr id="369" name="State"/>
          <p:cNvSpPr txBox="1"/>
          <p:nvPr/>
        </p:nvSpPr>
        <p:spPr>
          <a:xfrm>
            <a:off x="11383977" y="3722116"/>
            <a:ext cx="2020063" cy="1019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State</a:t>
            </a:r>
          </a:p>
        </p:txBody>
      </p:sp>
      <p:sp>
        <p:nvSpPr>
          <p:cNvPr id="370" name="Line"/>
          <p:cNvSpPr/>
          <p:nvPr/>
        </p:nvSpPr>
        <p:spPr>
          <a:xfrm>
            <a:off x="14864158" y="5957846"/>
            <a:ext cx="1" cy="83407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71" name="Graph1"/>
          <p:cNvSpPr txBox="1"/>
          <p:nvPr/>
        </p:nvSpPr>
        <p:spPr>
          <a:xfrm>
            <a:off x="2871961" y="2569770"/>
            <a:ext cx="232537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Graph1</a:t>
            </a:r>
          </a:p>
        </p:txBody>
      </p:sp>
      <p:sp>
        <p:nvSpPr>
          <p:cNvPr id="372" name="Graph2"/>
          <p:cNvSpPr txBox="1"/>
          <p:nvPr/>
        </p:nvSpPr>
        <p:spPr>
          <a:xfrm>
            <a:off x="8507174" y="2569770"/>
            <a:ext cx="232537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Graph2</a:t>
            </a:r>
          </a:p>
        </p:txBody>
      </p:sp>
      <p:sp>
        <p:nvSpPr>
          <p:cNvPr id="373" name="Graph3"/>
          <p:cNvSpPr txBox="1"/>
          <p:nvPr/>
        </p:nvSpPr>
        <p:spPr>
          <a:xfrm>
            <a:off x="13496266" y="2569770"/>
            <a:ext cx="232537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Graph3</a:t>
            </a:r>
          </a:p>
        </p:txBody>
      </p:sp>
      <p:sp>
        <p:nvSpPr>
          <p:cNvPr id="374" name="Modularity"/>
          <p:cNvSpPr txBox="1"/>
          <p:nvPr/>
        </p:nvSpPr>
        <p:spPr>
          <a:xfrm>
            <a:off x="17481377" y="5135724"/>
            <a:ext cx="33350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Modularity</a:t>
            </a:r>
          </a:p>
        </p:txBody>
      </p:sp>
      <p:sp>
        <p:nvSpPr>
          <p:cNvPr id="375" name="Reusability"/>
          <p:cNvSpPr txBox="1"/>
          <p:nvPr/>
        </p:nvSpPr>
        <p:spPr>
          <a:xfrm>
            <a:off x="17577986" y="6610354"/>
            <a:ext cx="345186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Reusability</a:t>
            </a:r>
          </a:p>
        </p:txBody>
      </p:sp>
      <p:sp>
        <p:nvSpPr>
          <p:cNvPr id="376" name="Testability"/>
          <p:cNvSpPr txBox="1"/>
          <p:nvPr/>
        </p:nvSpPr>
        <p:spPr>
          <a:xfrm>
            <a:off x="17569959" y="7841366"/>
            <a:ext cx="315785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Testability</a:t>
            </a:r>
          </a:p>
        </p:txBody>
      </p:sp>
      <p:sp>
        <p:nvSpPr>
          <p:cNvPr id="377" name="Clean Design"/>
          <p:cNvSpPr txBox="1"/>
          <p:nvPr/>
        </p:nvSpPr>
        <p:spPr>
          <a:xfrm>
            <a:off x="17578944" y="9256280"/>
            <a:ext cx="41351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Clean Design</a:t>
            </a:r>
          </a:p>
        </p:txBody>
      </p:sp>
      <p:sp>
        <p:nvSpPr>
          <p:cNvPr id="378" name="Multi Agentic Systems"/>
          <p:cNvSpPr txBox="1"/>
          <p:nvPr/>
        </p:nvSpPr>
        <p:spPr>
          <a:xfrm>
            <a:off x="17369518" y="3964429"/>
            <a:ext cx="687387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Multi Agentic Systems</a:t>
            </a:r>
          </a:p>
        </p:txBody>
      </p:sp>
      <p:sp>
        <p:nvSpPr>
          <p:cNvPr id="379" name="Line"/>
          <p:cNvSpPr/>
          <p:nvPr/>
        </p:nvSpPr>
        <p:spPr>
          <a:xfrm>
            <a:off x="5256591" y="3096540"/>
            <a:ext cx="319132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0" name="Line"/>
          <p:cNvSpPr/>
          <p:nvPr/>
        </p:nvSpPr>
        <p:spPr>
          <a:xfrm>
            <a:off x="10891804" y="3096540"/>
            <a:ext cx="2325371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3" grpId="14"/>
      <p:bldP build="whole" bldLvl="1" animBg="1" rev="0" advAuto="0" spid="380" grpId="20"/>
      <p:bldP build="whole" bldLvl="1" animBg="1" rev="0" advAuto="0" spid="379" grpId="19"/>
      <p:bldP build="whole" bldLvl="1" animBg="1" rev="0" advAuto="0" spid="371" grpId="2"/>
      <p:bldP build="whole" bldLvl="1" animBg="1" rev="0" advAuto="0" spid="358" grpId="7"/>
      <p:bldP build="whole" bldLvl="1" animBg="1" rev="0" advAuto="0" spid="367" grpId="21"/>
      <p:bldP build="whole" bldLvl="1" animBg="1" rev="0" advAuto="0" spid="374" grpId="25"/>
      <p:bldP build="whole" bldLvl="1" animBg="1" rev="0" advAuto="0" spid="369" grpId="23"/>
      <p:bldP build="whole" bldLvl="1" animBg="1" rev="0" advAuto="0" spid="375" grpId="26"/>
      <p:bldP build="whole" bldLvl="1" animBg="1" rev="0" advAuto="0" spid="378" grpId="24"/>
      <p:bldP build="whole" bldLvl="1" animBg="1" rev="0" advAuto="0" spid="377" grpId="28"/>
      <p:bldP build="whole" bldLvl="1" animBg="1" rev="0" advAuto="0" spid="362" grpId="12"/>
      <p:bldP build="whole" bldLvl="1" animBg="1" rev="0" advAuto="0" spid="364" grpId="15"/>
      <p:bldP build="whole" bldLvl="1" animBg="1" rev="0" advAuto="0" spid="363" grpId="13"/>
      <p:bldP build="whole" bldLvl="1" animBg="1" rev="0" advAuto="0" spid="360" grpId="10"/>
      <p:bldP build="whole" bldLvl="1" animBg="1" rev="0" advAuto="0" spid="355" grpId="5"/>
      <p:bldP build="whole" bldLvl="1" animBg="1" rev="0" advAuto="0" spid="376" grpId="27"/>
      <p:bldP build="whole" bldLvl="1" animBg="1" rev="0" advAuto="0" spid="366" grpId="18"/>
      <p:bldP build="whole" bldLvl="1" animBg="1" rev="0" advAuto="0" spid="365" grpId="17"/>
      <p:bldP build="whole" bldLvl="1" animBg="1" rev="0" advAuto="0" spid="361" grpId="11"/>
      <p:bldP build="whole" bldLvl="1" animBg="1" rev="0" advAuto="0" spid="370" grpId="16"/>
      <p:bldP build="whole" bldLvl="1" animBg="1" rev="0" advAuto="0" spid="372" grpId="8"/>
      <p:bldP build="whole" bldLvl="1" animBg="1" rev="0" advAuto="0" spid="356" grpId="6"/>
      <p:bldP build="whole" bldLvl="1" animBg="1" rev="0" advAuto="0" spid="354" grpId="4"/>
      <p:bldP build="whole" bldLvl="1" animBg="1" rev="0" advAuto="0" spid="353" grpId="3"/>
      <p:bldP build="whole" bldLvl="1" animBg="1" rev="0" advAuto="0" spid="357" grpId="1"/>
      <p:bldP build="whole" bldLvl="1" animBg="1" rev="0" advAuto="0" spid="368" grpId="22"/>
      <p:bldP build="whole" bldLvl="1" animBg="1" rev="0" advAuto="0" spid="359" grpId="9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chedule…"/>
          <p:cNvSpPr/>
          <p:nvPr/>
        </p:nvSpPr>
        <p:spPr>
          <a:xfrm>
            <a:off x="10775952" y="9894732"/>
            <a:ext cx="2832096" cy="282880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Schedule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Appointment</a:t>
            </a:r>
          </a:p>
        </p:txBody>
      </p:sp>
      <p:sp>
        <p:nvSpPr>
          <p:cNvPr id="383" name="Rounded Rectangle"/>
          <p:cNvSpPr/>
          <p:nvPr/>
        </p:nvSpPr>
        <p:spPr>
          <a:xfrm>
            <a:off x="9712344" y="8712048"/>
            <a:ext cx="4959312" cy="4531890"/>
          </a:xfrm>
          <a:prstGeom prst="roundRect">
            <a:avLst>
              <a:gd name="adj" fmla="val 12906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4" name="Check"/>
          <p:cNvSpPr/>
          <p:nvPr/>
        </p:nvSpPr>
        <p:spPr>
          <a:xfrm>
            <a:off x="11026677" y="2600499"/>
            <a:ext cx="2204935" cy="1818464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Check</a:t>
            </a:r>
          </a:p>
        </p:txBody>
      </p:sp>
      <p:sp>
        <p:nvSpPr>
          <p:cNvPr id="385" name="Confirm"/>
          <p:cNvSpPr/>
          <p:nvPr/>
        </p:nvSpPr>
        <p:spPr>
          <a:xfrm>
            <a:off x="11136115" y="6000509"/>
            <a:ext cx="1986059" cy="1595816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Confirm</a:t>
            </a:r>
          </a:p>
        </p:txBody>
      </p:sp>
      <p:sp>
        <p:nvSpPr>
          <p:cNvPr id="386" name="Rounded Rectangle"/>
          <p:cNvSpPr/>
          <p:nvPr/>
        </p:nvSpPr>
        <p:spPr>
          <a:xfrm>
            <a:off x="9431389" y="2309305"/>
            <a:ext cx="5521222" cy="5913909"/>
          </a:xfrm>
          <a:prstGeom prst="roundRect">
            <a:avLst>
              <a:gd name="adj" fmla="val 11794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7" name="Verify Insurance"/>
          <p:cNvSpPr txBox="1"/>
          <p:nvPr/>
        </p:nvSpPr>
        <p:spPr>
          <a:xfrm>
            <a:off x="3662964" y="4837318"/>
            <a:ext cx="497078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Verify Insurance</a:t>
            </a:r>
          </a:p>
        </p:txBody>
      </p:sp>
      <p:sp>
        <p:nvSpPr>
          <p:cNvPr id="388" name="Schedule Appointment"/>
          <p:cNvSpPr txBox="1"/>
          <p:nvPr/>
        </p:nvSpPr>
        <p:spPr>
          <a:xfrm>
            <a:off x="2370056" y="11534459"/>
            <a:ext cx="700405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/>
            </a:lvl1pPr>
          </a:lstStyle>
          <a:p>
            <a:pPr/>
            <a:r>
              <a:t>Schedule Appointment</a:t>
            </a:r>
          </a:p>
        </p:txBody>
      </p:sp>
      <p:sp>
        <p:nvSpPr>
          <p:cNvPr id="389" name="Line"/>
          <p:cNvSpPr/>
          <p:nvPr/>
        </p:nvSpPr>
        <p:spPr>
          <a:xfrm>
            <a:off x="12129144" y="4544778"/>
            <a:ext cx="1" cy="108083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0" name="Line"/>
          <p:cNvSpPr/>
          <p:nvPr/>
        </p:nvSpPr>
        <p:spPr>
          <a:xfrm>
            <a:off x="12129144" y="7971226"/>
            <a:ext cx="1" cy="181846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1" name="As Node"/>
          <p:cNvSpPr txBox="1"/>
          <p:nvPr/>
        </p:nvSpPr>
        <p:spPr>
          <a:xfrm>
            <a:off x="10084053" y="544625"/>
            <a:ext cx="4215893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As Node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9" grpId="5"/>
      <p:bldP build="whole" bldLvl="1" animBg="1" rev="0" advAuto="0" spid="386" grpId="3"/>
      <p:bldP build="whole" bldLvl="1" animBg="1" rev="0" advAuto="0" spid="391" grpId="1"/>
      <p:bldP build="whole" bldLvl="1" animBg="1" rev="0" advAuto="0" spid="385" grpId="6"/>
      <p:bldP build="whole" bldLvl="1" animBg="1" rev="0" advAuto="0" spid="383" grpId="7"/>
      <p:bldP build="whole" bldLvl="1" animBg="1" rev="0" advAuto="0" spid="387" grpId="2"/>
      <p:bldP build="whole" bldLvl="1" animBg="1" rev="0" advAuto="0" spid="382" grpId="8"/>
      <p:bldP build="whole" bldLvl="1" animBg="1" rev="0" advAuto="0" spid="388" grpId="9"/>
      <p:bldP build="whole" bldLvl="1" animBg="1" rev="0" advAuto="0" spid="390" grpId="10"/>
      <p:bldP build="whole" bldLvl="1" animBg="1" rev="0" advAuto="0" spid="384" grpId="4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Invoke"/>
          <p:cNvSpPr txBox="1"/>
          <p:nvPr/>
        </p:nvSpPr>
        <p:spPr>
          <a:xfrm>
            <a:off x="700894" y="798625"/>
            <a:ext cx="3331973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Invoke</a:t>
            </a:r>
          </a:p>
        </p:txBody>
      </p:sp>
      <p:sp>
        <p:nvSpPr>
          <p:cNvPr id="394" name="RAG"/>
          <p:cNvSpPr/>
          <p:nvPr/>
        </p:nvSpPr>
        <p:spPr>
          <a:xfrm>
            <a:off x="17278353" y="5723939"/>
            <a:ext cx="2832096" cy="282880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RAG</a:t>
            </a:r>
          </a:p>
        </p:txBody>
      </p:sp>
      <p:sp>
        <p:nvSpPr>
          <p:cNvPr id="395" name="Rounded Rectangle"/>
          <p:cNvSpPr/>
          <p:nvPr/>
        </p:nvSpPr>
        <p:spPr>
          <a:xfrm>
            <a:off x="16214743" y="4541255"/>
            <a:ext cx="4959312" cy="4531891"/>
          </a:xfrm>
          <a:prstGeom prst="roundRect">
            <a:avLst>
              <a:gd name="adj" fmla="val 12906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6" name="Summariser"/>
          <p:cNvSpPr/>
          <p:nvPr/>
        </p:nvSpPr>
        <p:spPr>
          <a:xfrm>
            <a:off x="9323091" y="5548784"/>
            <a:ext cx="2689321" cy="2491167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Summariser</a:t>
            </a:r>
          </a:p>
        </p:txBody>
      </p:sp>
      <p:sp>
        <p:nvSpPr>
          <p:cNvPr id="397" name="Rounded Rectangle"/>
          <p:cNvSpPr/>
          <p:nvPr/>
        </p:nvSpPr>
        <p:spPr>
          <a:xfrm>
            <a:off x="7499203" y="2568836"/>
            <a:ext cx="5980208" cy="7195318"/>
          </a:xfrm>
          <a:prstGeom prst="roundRect">
            <a:avLst>
              <a:gd name="adj" fmla="val 11794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8" name="Generate Current…"/>
          <p:cNvSpPr txBox="1"/>
          <p:nvPr/>
        </p:nvSpPr>
        <p:spPr>
          <a:xfrm>
            <a:off x="1938304" y="5571677"/>
            <a:ext cx="5372101" cy="163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5000"/>
            </a:pPr>
            <a:r>
              <a:t>Generate Current</a:t>
            </a:r>
          </a:p>
          <a:p>
            <a:pPr>
              <a:defRPr b="1" sz="5000"/>
            </a:pPr>
            <a:r>
              <a:t> Affairs Summary</a:t>
            </a:r>
          </a:p>
        </p:txBody>
      </p:sp>
      <p:sp>
        <p:nvSpPr>
          <p:cNvPr id="399" name="Line"/>
          <p:cNvSpPr/>
          <p:nvPr/>
        </p:nvSpPr>
        <p:spPr>
          <a:xfrm>
            <a:off x="18710936" y="8845681"/>
            <a:ext cx="1" cy="84824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0" name="Vector Store"/>
          <p:cNvSpPr/>
          <p:nvPr/>
        </p:nvSpPr>
        <p:spPr>
          <a:xfrm>
            <a:off x="17811825" y="9986861"/>
            <a:ext cx="1798222" cy="23738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Vector Store</a:t>
            </a:r>
          </a:p>
        </p:txBody>
      </p:sp>
      <p:sp>
        <p:nvSpPr>
          <p:cNvPr id="401" name="Line"/>
          <p:cNvSpPr/>
          <p:nvPr/>
        </p:nvSpPr>
        <p:spPr>
          <a:xfrm>
            <a:off x="13780144" y="6921367"/>
            <a:ext cx="2204936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8" grpId="2"/>
      <p:bldP build="whole" bldLvl="1" animBg="1" rev="0" advAuto="0" spid="397" grpId="3"/>
      <p:bldP build="whole" bldLvl="1" animBg="1" rev="0" advAuto="0" spid="394" grpId="6"/>
      <p:bldP build="whole" bldLvl="1" animBg="1" rev="0" advAuto="0" spid="396" grpId="4"/>
      <p:bldP build="whole" bldLvl="1" animBg="1" rev="0" advAuto="0" spid="399" grpId="7"/>
      <p:bldP build="whole" bldLvl="1" animBg="1" rev="0" advAuto="0" spid="393" grpId="1"/>
      <p:bldP build="whole" bldLvl="1" animBg="1" rev="0" advAuto="0" spid="400" grpId="8"/>
      <p:bldP build="whole" bldLvl="1" animBg="1" rev="0" advAuto="0" spid="401" grpId="9"/>
      <p:bldP build="whole" bldLvl="1" animBg="1" rev="0" advAuto="0" spid="395" grpId="5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TART"/>
          <p:cNvSpPr txBox="1"/>
          <p:nvPr/>
        </p:nvSpPr>
        <p:spPr>
          <a:xfrm>
            <a:off x="10986410" y="2363918"/>
            <a:ext cx="164795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START</a:t>
            </a:r>
          </a:p>
        </p:txBody>
      </p:sp>
      <p:sp>
        <p:nvSpPr>
          <p:cNvPr id="404" name="Fetch Patient Data"/>
          <p:cNvSpPr txBox="1"/>
          <p:nvPr/>
        </p:nvSpPr>
        <p:spPr>
          <a:xfrm>
            <a:off x="9645544" y="3868846"/>
            <a:ext cx="432968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Fetch Patient Data</a:t>
            </a:r>
          </a:p>
        </p:txBody>
      </p:sp>
      <p:sp>
        <p:nvSpPr>
          <p:cNvPr id="405" name="Fetch Patient Insurance"/>
          <p:cNvSpPr txBox="1"/>
          <p:nvPr/>
        </p:nvSpPr>
        <p:spPr>
          <a:xfrm>
            <a:off x="9066932" y="5108740"/>
            <a:ext cx="548690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Fetch Patient Insurance</a:t>
            </a:r>
          </a:p>
        </p:txBody>
      </p:sp>
      <p:sp>
        <p:nvSpPr>
          <p:cNvPr id="406" name="Retrieve Policy Docs"/>
          <p:cNvSpPr txBox="1"/>
          <p:nvPr/>
        </p:nvSpPr>
        <p:spPr>
          <a:xfrm>
            <a:off x="9406276" y="6382027"/>
            <a:ext cx="480822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Retrieve Policy Docs</a:t>
            </a:r>
          </a:p>
        </p:txBody>
      </p:sp>
      <p:sp>
        <p:nvSpPr>
          <p:cNvPr id="407" name="Validate Claim"/>
          <p:cNvSpPr txBox="1"/>
          <p:nvPr/>
        </p:nvSpPr>
        <p:spPr>
          <a:xfrm>
            <a:off x="10139574" y="7405640"/>
            <a:ext cx="334162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Validate Claim</a:t>
            </a:r>
          </a:p>
        </p:txBody>
      </p:sp>
      <p:sp>
        <p:nvSpPr>
          <p:cNvPr id="408" name="Claim Decision"/>
          <p:cNvSpPr txBox="1"/>
          <p:nvPr/>
        </p:nvSpPr>
        <p:spPr>
          <a:xfrm>
            <a:off x="10054992" y="8429253"/>
            <a:ext cx="351078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Claim Decision</a:t>
            </a:r>
          </a:p>
        </p:txBody>
      </p:sp>
      <p:sp>
        <p:nvSpPr>
          <p:cNvPr id="409" name="Store Claim"/>
          <p:cNvSpPr txBox="1"/>
          <p:nvPr/>
        </p:nvSpPr>
        <p:spPr>
          <a:xfrm>
            <a:off x="8741543" y="9702541"/>
            <a:ext cx="276758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Store Claim</a:t>
            </a:r>
          </a:p>
        </p:txBody>
      </p:sp>
      <p:sp>
        <p:nvSpPr>
          <p:cNvPr id="410" name="Human Review"/>
          <p:cNvSpPr txBox="1"/>
          <p:nvPr/>
        </p:nvSpPr>
        <p:spPr>
          <a:xfrm>
            <a:off x="11666721" y="9702541"/>
            <a:ext cx="353872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Human Review</a:t>
            </a:r>
          </a:p>
        </p:txBody>
      </p:sp>
      <p:sp>
        <p:nvSpPr>
          <p:cNvPr id="411" name="Store Claim"/>
          <p:cNvSpPr txBox="1"/>
          <p:nvPr/>
        </p:nvSpPr>
        <p:spPr>
          <a:xfrm>
            <a:off x="12052293" y="11187545"/>
            <a:ext cx="276758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Store Claim</a:t>
            </a:r>
          </a:p>
        </p:txBody>
      </p:sp>
      <p:sp>
        <p:nvSpPr>
          <p:cNvPr id="412" name="END"/>
          <p:cNvSpPr txBox="1"/>
          <p:nvPr/>
        </p:nvSpPr>
        <p:spPr>
          <a:xfrm>
            <a:off x="11235838" y="12067469"/>
            <a:ext cx="1149097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END</a:t>
            </a:r>
          </a:p>
        </p:txBody>
      </p:sp>
      <p:sp>
        <p:nvSpPr>
          <p:cNvPr id="413" name="Line"/>
          <p:cNvSpPr/>
          <p:nvPr/>
        </p:nvSpPr>
        <p:spPr>
          <a:xfrm>
            <a:off x="11810386" y="3306624"/>
            <a:ext cx="1" cy="54813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4" name="Line"/>
          <p:cNvSpPr/>
          <p:nvPr/>
        </p:nvSpPr>
        <p:spPr>
          <a:xfrm>
            <a:off x="11810386" y="4579912"/>
            <a:ext cx="1" cy="54813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5" name="Line"/>
          <p:cNvSpPr/>
          <p:nvPr/>
        </p:nvSpPr>
        <p:spPr>
          <a:xfrm>
            <a:off x="11810386" y="5819805"/>
            <a:ext cx="1" cy="54813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6" name="Line"/>
          <p:cNvSpPr/>
          <p:nvPr/>
        </p:nvSpPr>
        <p:spPr>
          <a:xfrm>
            <a:off x="11810386" y="7997447"/>
            <a:ext cx="1" cy="54813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7" name="Line"/>
          <p:cNvSpPr/>
          <p:nvPr/>
        </p:nvSpPr>
        <p:spPr>
          <a:xfrm>
            <a:off x="11810386" y="7059699"/>
            <a:ext cx="1" cy="54813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8" name="Line"/>
          <p:cNvSpPr/>
          <p:nvPr/>
        </p:nvSpPr>
        <p:spPr>
          <a:xfrm flipH="1">
            <a:off x="10878684" y="9153789"/>
            <a:ext cx="677703" cy="67770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9" name="Line"/>
          <p:cNvSpPr/>
          <p:nvPr/>
        </p:nvSpPr>
        <p:spPr>
          <a:xfrm>
            <a:off x="12104268" y="9217418"/>
            <a:ext cx="610915" cy="610915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0" name="Line"/>
          <p:cNvSpPr/>
          <p:nvPr/>
        </p:nvSpPr>
        <p:spPr>
          <a:xfrm>
            <a:off x="12827303" y="10393683"/>
            <a:ext cx="610915" cy="610915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1" name="Insurance Claim Processing Flow"/>
          <p:cNvSpPr txBox="1"/>
          <p:nvPr/>
        </p:nvSpPr>
        <p:spPr>
          <a:xfrm>
            <a:off x="520921" y="691211"/>
            <a:ext cx="1223162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Insurance Claim Processing 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Agentic Patterns"/>
          <p:cNvSpPr txBox="1"/>
          <p:nvPr/>
        </p:nvSpPr>
        <p:spPr>
          <a:xfrm>
            <a:off x="848835" y="1082245"/>
            <a:ext cx="822299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Agentic Patterns</a:t>
            </a:r>
          </a:p>
        </p:txBody>
      </p:sp>
      <p:sp>
        <p:nvSpPr>
          <p:cNvPr id="424" name="Reflection"/>
          <p:cNvSpPr txBox="1"/>
          <p:nvPr/>
        </p:nvSpPr>
        <p:spPr>
          <a:xfrm>
            <a:off x="8271731" y="4769043"/>
            <a:ext cx="4442842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Reflection</a:t>
            </a:r>
          </a:p>
        </p:txBody>
      </p:sp>
      <p:sp>
        <p:nvSpPr>
          <p:cNvPr id="425" name="Tree Of Thought"/>
          <p:cNvSpPr txBox="1"/>
          <p:nvPr/>
        </p:nvSpPr>
        <p:spPr>
          <a:xfrm>
            <a:off x="8322531" y="7042343"/>
            <a:ext cx="6932042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Tree Of Thought</a:t>
            </a:r>
          </a:p>
        </p:txBody>
      </p:sp>
      <p:sp>
        <p:nvSpPr>
          <p:cNvPr id="426" name="Parallel Execution"/>
          <p:cNvSpPr txBox="1"/>
          <p:nvPr/>
        </p:nvSpPr>
        <p:spPr>
          <a:xfrm>
            <a:off x="8379237" y="9315643"/>
            <a:ext cx="7733031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Parallel Execution</a:t>
            </a:r>
          </a:p>
        </p:txBody>
      </p:sp>
      <p:sp>
        <p:nvSpPr>
          <p:cNvPr id="427" name="Blueprint"/>
          <p:cNvSpPr txBox="1"/>
          <p:nvPr/>
        </p:nvSpPr>
        <p:spPr>
          <a:xfrm>
            <a:off x="17858994" y="1082245"/>
            <a:ext cx="4515613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Blueprint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7" grpId="2"/>
      <p:bldP build="whole" bldLvl="1" animBg="1" rev="0" advAuto="0" spid="423" grpId="1"/>
      <p:bldP build="whole" bldLvl="1" animBg="1" rev="0" advAuto="0" spid="426" grpId="5"/>
      <p:bldP build="whole" bldLvl="1" animBg="1" rev="0" advAuto="0" spid="425" grpId="4"/>
      <p:bldP build="whole" bldLvl="1" animBg="1" rev="0" advAuto="0" spid="424" grpId="3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TART"/>
          <p:cNvSpPr/>
          <p:nvPr/>
        </p:nvSpPr>
        <p:spPr>
          <a:xfrm>
            <a:off x="9964175" y="505169"/>
            <a:ext cx="2348355" cy="1883758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430" name="LLM"/>
          <p:cNvSpPr/>
          <p:nvPr/>
        </p:nvSpPr>
        <p:spPr>
          <a:xfrm>
            <a:off x="9828438" y="3234457"/>
            <a:ext cx="2619830" cy="1912394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431" name="API Calls"/>
          <p:cNvSpPr/>
          <p:nvPr/>
        </p:nvSpPr>
        <p:spPr>
          <a:xfrm>
            <a:off x="9897300" y="5931477"/>
            <a:ext cx="2482103" cy="1853046"/>
          </a:xfrm>
          <a:prstGeom prst="ellipse">
            <a:avLst/>
          </a:prstGeom>
          <a:solidFill>
            <a:srgbClr val="ED220D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API Calls</a:t>
            </a:r>
          </a:p>
        </p:txBody>
      </p:sp>
      <p:sp>
        <p:nvSpPr>
          <p:cNvPr id="432" name="DB Updates"/>
          <p:cNvSpPr/>
          <p:nvPr/>
        </p:nvSpPr>
        <p:spPr>
          <a:xfrm>
            <a:off x="9897300" y="8569149"/>
            <a:ext cx="2482103" cy="1912394"/>
          </a:xfrm>
          <a:prstGeom prst="ellipse">
            <a:avLst/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DB Updates</a:t>
            </a:r>
          </a:p>
        </p:txBody>
      </p:sp>
      <p:sp>
        <p:nvSpPr>
          <p:cNvPr id="433" name="END"/>
          <p:cNvSpPr/>
          <p:nvPr/>
        </p:nvSpPr>
        <p:spPr>
          <a:xfrm>
            <a:off x="9897300" y="11327073"/>
            <a:ext cx="2482103" cy="1883758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END</a:t>
            </a:r>
          </a:p>
        </p:txBody>
      </p:sp>
      <p:sp>
        <p:nvSpPr>
          <p:cNvPr id="434" name="Line"/>
          <p:cNvSpPr/>
          <p:nvPr/>
        </p:nvSpPr>
        <p:spPr>
          <a:xfrm>
            <a:off x="11138352" y="258319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5" name="Line"/>
          <p:cNvSpPr/>
          <p:nvPr/>
        </p:nvSpPr>
        <p:spPr>
          <a:xfrm>
            <a:off x="11138352" y="800846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6" name="Line"/>
          <p:cNvSpPr/>
          <p:nvPr/>
        </p:nvSpPr>
        <p:spPr>
          <a:xfrm>
            <a:off x="11138352" y="10675809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7" name="Line"/>
          <p:cNvSpPr/>
          <p:nvPr/>
        </p:nvSpPr>
        <p:spPr>
          <a:xfrm>
            <a:off x="11138352" y="5347673"/>
            <a:ext cx="1" cy="456998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8" name="Memory"/>
          <p:cNvSpPr txBox="1"/>
          <p:nvPr/>
        </p:nvSpPr>
        <p:spPr>
          <a:xfrm>
            <a:off x="725661" y="535123"/>
            <a:ext cx="4700687" cy="152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0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Memory</a:t>
            </a:r>
          </a:p>
        </p:txBody>
      </p:sp>
      <p:sp>
        <p:nvSpPr>
          <p:cNvPr id="439" name="State"/>
          <p:cNvSpPr txBox="1"/>
          <p:nvPr/>
        </p:nvSpPr>
        <p:spPr>
          <a:xfrm>
            <a:off x="12027523" y="2402979"/>
            <a:ext cx="1597001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</a:t>
            </a:r>
          </a:p>
        </p:txBody>
      </p:sp>
      <p:sp>
        <p:nvSpPr>
          <p:cNvPr id="440" name="Rectangle"/>
          <p:cNvSpPr/>
          <p:nvPr/>
        </p:nvSpPr>
        <p:spPr>
          <a:xfrm>
            <a:off x="16763703" y="5404336"/>
            <a:ext cx="6625344" cy="5040972"/>
          </a:xfrm>
          <a:prstGeom prst="rect">
            <a:avLst/>
          </a:prstGeom>
          <a:ln w="63500">
            <a:solidFill>
              <a:schemeClr val="accent1">
                <a:lumOff val="1684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1" name="State"/>
          <p:cNvSpPr txBox="1"/>
          <p:nvPr/>
        </p:nvSpPr>
        <p:spPr>
          <a:xfrm>
            <a:off x="19277876" y="7267950"/>
            <a:ext cx="1597001" cy="817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</a:t>
            </a:r>
          </a:p>
        </p:txBody>
      </p:sp>
      <p:sp>
        <p:nvSpPr>
          <p:cNvPr id="442" name="Line"/>
          <p:cNvSpPr/>
          <p:nvPr/>
        </p:nvSpPr>
        <p:spPr>
          <a:xfrm flipV="1">
            <a:off x="13023919" y="5612502"/>
            <a:ext cx="3547573" cy="460605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3" name="Memory"/>
          <p:cNvSpPr txBox="1"/>
          <p:nvPr/>
        </p:nvSpPr>
        <p:spPr>
          <a:xfrm>
            <a:off x="18439458" y="4455331"/>
            <a:ext cx="2549192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b="1"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Memory</a:t>
            </a:r>
          </a:p>
        </p:txBody>
      </p:sp>
      <p:sp>
        <p:nvSpPr>
          <p:cNvPr id="444" name="Checkpointer"/>
          <p:cNvSpPr txBox="1"/>
          <p:nvPr/>
        </p:nvSpPr>
        <p:spPr>
          <a:xfrm>
            <a:off x="13036274" y="7267950"/>
            <a:ext cx="3855778" cy="817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Checkpointer</a:t>
            </a:r>
          </a:p>
        </p:txBody>
      </p:sp>
      <p:sp>
        <p:nvSpPr>
          <p:cNvPr id="445" name="PostgreSQL"/>
          <p:cNvSpPr txBox="1"/>
          <p:nvPr/>
        </p:nvSpPr>
        <p:spPr>
          <a:xfrm>
            <a:off x="17145362" y="10997825"/>
            <a:ext cx="3573315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PostgreSQL</a:t>
            </a:r>
          </a:p>
        </p:txBody>
      </p:sp>
      <p:sp>
        <p:nvSpPr>
          <p:cNvPr id="446" name="Redis"/>
          <p:cNvSpPr txBox="1"/>
          <p:nvPr/>
        </p:nvSpPr>
        <p:spPr>
          <a:xfrm>
            <a:off x="20907232" y="10997825"/>
            <a:ext cx="1737768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Redis</a:t>
            </a:r>
          </a:p>
        </p:txBody>
      </p:sp>
      <p:sp>
        <p:nvSpPr>
          <p:cNvPr id="447" name="State"/>
          <p:cNvSpPr txBox="1"/>
          <p:nvPr/>
        </p:nvSpPr>
        <p:spPr>
          <a:xfrm>
            <a:off x="12518721" y="10495595"/>
            <a:ext cx="1597001" cy="817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50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9" grpId="7"/>
      <p:bldP build="whole" bldLvl="1" animBg="1" rev="0" advAuto="0" spid="440" grpId="13"/>
      <p:bldP build="whole" bldLvl="1" animBg="1" rev="0" advAuto="0" spid="446" grpId="19"/>
      <p:bldP build="whole" bldLvl="1" animBg="1" rev="0" advAuto="0" spid="435" grpId="10"/>
      <p:bldP build="whole" bldLvl="1" animBg="1" rev="0" advAuto="0" spid="430" grpId="3"/>
      <p:bldP build="whole" bldLvl="1" animBg="1" rev="0" advAuto="0" spid="437" grpId="9"/>
      <p:bldP build="whole" bldLvl="1" animBg="1" rev="0" advAuto="0" spid="436" grpId="11"/>
      <p:bldP build="whole" bldLvl="1" animBg="1" rev="0" advAuto="0" spid="441" grpId="16"/>
      <p:bldP build="whole" bldLvl="1" animBg="1" rev="0" advAuto="0" spid="429" grpId="2"/>
      <p:bldP build="whole" bldLvl="1" animBg="1" rev="0" advAuto="0" spid="442" grpId="15"/>
      <p:bldP build="whole" bldLvl="1" animBg="1" rev="0" advAuto="0" spid="445" grpId="18"/>
      <p:bldP build="whole" bldLvl="1" animBg="1" rev="0" advAuto="0" spid="434" grpId="8"/>
      <p:bldP build="whole" bldLvl="1" animBg="1" rev="0" advAuto="0" spid="447" grpId="14"/>
      <p:bldP build="whole" bldLvl="1" animBg="1" rev="0" advAuto="0" spid="444" grpId="17"/>
      <p:bldP build="whole" bldLvl="1" animBg="1" rev="0" advAuto="0" spid="431" grpId="4"/>
      <p:bldP build="whole" bldLvl="1" animBg="1" rev="0" advAuto="0" spid="433" grpId="6"/>
      <p:bldP build="whole" bldLvl="1" animBg="1" rev="0" advAuto="0" spid="443" grpId="12"/>
      <p:bldP build="whole" bldLvl="1" animBg="1" rev="0" advAuto="0" spid="432" grpId="5"/>
      <p:bldP build="whole" bldLvl="1" animBg="1" rev="0" advAuto="0" spid="43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LangSmith"/>
          <p:cNvSpPr txBox="1"/>
          <p:nvPr/>
        </p:nvSpPr>
        <p:spPr>
          <a:xfrm>
            <a:off x="2526156" y="6047235"/>
            <a:ext cx="5325365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000"/>
            </a:lvl1pPr>
          </a:lstStyle>
          <a:p>
            <a:pPr/>
            <a:r>
              <a:t>LangSmith</a:t>
            </a:r>
          </a:p>
        </p:txBody>
      </p:sp>
      <p:sp>
        <p:nvSpPr>
          <p:cNvPr id="450" name="LangChain"/>
          <p:cNvSpPr txBox="1"/>
          <p:nvPr/>
        </p:nvSpPr>
        <p:spPr>
          <a:xfrm>
            <a:off x="9273222" y="4610293"/>
            <a:ext cx="4674871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LangChain</a:t>
            </a:r>
          </a:p>
        </p:txBody>
      </p:sp>
      <p:sp>
        <p:nvSpPr>
          <p:cNvPr id="451" name="LangGraph"/>
          <p:cNvSpPr txBox="1"/>
          <p:nvPr/>
        </p:nvSpPr>
        <p:spPr>
          <a:xfrm>
            <a:off x="9198991" y="7950393"/>
            <a:ext cx="4823334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LangGraph</a:t>
            </a:r>
          </a:p>
        </p:txBody>
      </p:sp>
      <p:sp>
        <p:nvSpPr>
          <p:cNvPr id="452" name="Observability"/>
          <p:cNvSpPr txBox="1"/>
          <p:nvPr/>
        </p:nvSpPr>
        <p:spPr>
          <a:xfrm>
            <a:off x="16197071" y="6121593"/>
            <a:ext cx="5660772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7000"/>
            </a:lvl1pPr>
          </a:lstStyle>
          <a:p>
            <a:pPr/>
            <a:r>
              <a:t>Observability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49" grpId="1"/>
      <p:bldP build="whole" bldLvl="1" animBg="1" rev="0" advAuto="0" spid="450" grpId="3"/>
      <p:bldP build="whole" bldLvl="1" animBg="1" rev="0" advAuto="0" spid="452" grpId="2"/>
      <p:bldP build="whole" bldLvl="1" animBg="1" rev="0" advAuto="0" spid="451" grpId="4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